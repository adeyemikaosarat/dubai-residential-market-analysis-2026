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Total Sales (bn AED)</c:v>
                </c:pt>
              </c:strCache>
            </c:strRef>
          </c:tx>
          <c:spPr>
            <a:solidFill>
              <a:srgbClr val="C9A227"/>
            </a:solidFill>
            <a:ln w="38100" cap="flat">
              <a:solidFill>
                <a:srgbClr val="C9A227"/>
              </a:solidFill>
              <a:prstDash val="solid"/>
              <a:round/>
            </a:ln>
            <a:effectLst/>
          </c:spPr>
          <c:invertIfNegative val="0"/>
          <c:dLbls>
            <c:numFmt formatCode="#,##0" sourceLinked="0"/>
            <c:txPr>
              <a:bodyPr/>
              <a:lstStyle/>
              <a:p>
                <a:pPr>
                  <a:defRPr b="0" i="0" strike="noStrike" sz="900" u="none">
                    <a:solidFill>
                      <a:srgbClr val="0B1F3A"/>
                    </a:solidFill>
                    <a:latin typeface="Arial"/>
                  </a:defRPr>
                </a:pPr>
              </a:p>
            </c:txPr>
            <c:dLblPos val="t"/>
            <c:showLegendKey val="0"/>
            <c:showVal val="1"/>
            <c:showCatName val="0"/>
            <c:showSerName val="0"/>
            <c:showPercent val="0"/>
            <c:showBubbleSize val="0"/>
            <c:showLeaderLines val="0"/>
          </c:dLbls>
          <c:marker>
            <c:symbol val="circle"/>
            <c:size val="6"/>
            <c:spPr>
              <a:solidFill>
                <a:srgbClr val="C9A227"/>
              </a:solidFill>
              <a:ln w="9525" cap="flat">
                <a:solidFill>
                  <a:srgbClr val="C9A227"/>
                </a:solidFill>
                <a:prstDash val="solid"/>
                <a:round/>
              </a:ln>
              <a:effectLst/>
            </c:spPr>
          </c:marker>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4.9</c:v>
                </c:pt>
                <c:pt idx="1">
                  <c:v>5</c:v>
                </c:pt>
                <c:pt idx="2">
                  <c:v>3.55</c:v>
                </c:pt>
                <c:pt idx="3">
                  <c:v>3.5</c:v>
                </c:pt>
                <c:pt idx="4">
                  <c:v>2.55</c:v>
                </c:pt>
                <c:pt idx="5">
                  <c:v>2.2</c:v>
                </c:pt>
                <c:pt idx="6">
                  <c:v>1.7</c:v>
                </c:pt>
              </c:numCache>
            </c:numRef>
          </c:val>
          <c:smooth val="0"/>
        </c:ser>
        <c:dLbls>
          <c:numFmt formatCode="#,##0" sourceLinked="0"/>
          <c:txPr>
            <a:bodyPr/>
            <a:lstStyle/>
            <a:p>
              <a:pPr>
                <a:defRPr b="0" i="0" strike="noStrike" sz="900" u="none">
                  <a:solidFill>
                    <a:srgbClr val="0B1F3A"/>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12700" cap="flat">
              <a:solidFill>
                <a:srgbClr val="E3E5E9"/>
              </a:solidFill>
              <a:prstDash val="solid"/>
              <a:round/>
            </a:ln>
          </c:spPr>
        </c:majorGridlines>
        <c:title>
          <c:tx>
            <c:rich>
              <a:bodyPr/>
              <a:lstStyle/>
              <a:p>
                <a:pPr>
                  <a:defRPr sz="1000" b="0" i="0" u="none" strike="noStrike">
                    <a:solidFill>
                      <a:srgbClr val="6B7280"/>
                    </a:solidFill>
                    <a:latin typeface="Arial"/>
                  </a:defRPr>
                </a:pPr>
                <a:r>
                  <a:rPr sz="1000" b="0" i="0" u="none" strike="noStrike">
                    <a:solidFill>
                      <a:srgbClr val="6B7280"/>
                    </a:solidFill>
                    <a:latin typeface="Arial"/>
                  </a:rPr>
                  <a:t>Sales (bn AED)</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Sales (bn AED)</c:v>
                </c:pt>
              </c:strCache>
            </c:strRef>
          </c:tx>
          <c:spPr>
            <a:solidFill>
              <a:srgbClr val="C9A227"/>
            </a:solidFill>
            <a:effectLst/>
          </c:spPr>
          <c:invertIfNegative val="0"/>
          <c:dLbls>
            <c:numFmt formatCode="#,##0" sourceLinked="0"/>
            <c:txPr>
              <a:bodyPr/>
              <a:lstStyle/>
              <a:p>
                <a:pPr>
                  <a:defRPr b="0" i="0" strike="noStrike" sz="900" u="none">
                    <a:solidFill>
                      <a:srgbClr val="0B1F3A"/>
                    </a:solidFill>
                    <a:latin typeface="Arial"/>
                  </a:defRPr>
                </a:pPr>
              </a:p>
            </c:txPr>
            <c:showLegendKey val="0"/>
            <c:showVal val="1"/>
            <c:showCatName val="0"/>
            <c:showSerName val="0"/>
            <c:showPercent val="0"/>
            <c:showBubbleSize val="0"/>
            <c:showLeaderLines val="0"/>
          </c:dLbls>
          <c:dPt>
            <c:idx val="0"/>
            <c:invertIfNegative val="0"/>
            <c:bubble3D val="0"/>
            <c:spPr>
              <a:solidFill>
                <a:srgbClr val="C9A227"/>
              </a:solidFill>
              <a:effectLst/>
            </c:spPr>
          </c:dPt>
          <c:dPt>
            <c:idx val="1"/>
            <c:invertIfNegative val="0"/>
            <c:bubble3D val="0"/>
            <c:spPr>
              <a:solidFill>
                <a:srgbClr val="C9A227"/>
              </a:solidFill>
              <a:effectLst/>
            </c:spPr>
          </c:dPt>
          <c:dPt>
            <c:idx val="2"/>
            <c:invertIfNegative val="0"/>
            <c:bubble3D val="0"/>
            <c:spPr>
              <a:solidFill>
                <a:srgbClr val="0B1F3A"/>
              </a:solidFill>
              <a:effectLst/>
            </c:spPr>
          </c:dPt>
          <c:dPt>
            <c:idx val="3"/>
            <c:invertIfNegative val="0"/>
            <c:bubble3D val="0"/>
            <c:spPr>
              <a:solidFill>
                <a:srgbClr val="0B1F3A"/>
              </a:solidFill>
              <a:effectLst/>
            </c:spPr>
          </c:dPt>
          <c:dPt>
            <c:idx val="4"/>
            <c:invertIfNegative val="0"/>
            <c:bubble3D val="0"/>
            <c:spPr>
              <a:solidFill>
                <a:srgbClr val="0B1F3A"/>
              </a:solidFill>
              <a:effectLst/>
            </c:spPr>
          </c:dPt>
          <c:dPt>
            <c:idx val="5"/>
            <c:invertIfNegative val="0"/>
            <c:bubble3D val="0"/>
            <c:spPr>
              <a:solidFill>
                <a:srgbClr val="0B1F3A"/>
              </a:solidFill>
              <a:effectLst/>
            </c:spPr>
          </c:dPt>
          <c:dPt>
            <c:idx val="6"/>
            <c:invertIfNegative val="0"/>
            <c:bubble3D val="0"/>
            <c:spPr>
              <a:solidFill>
                <a:srgbClr val="0B1F3A"/>
              </a:solidFill>
              <a:effectLst/>
            </c:spPr>
          </c:dPt>
          <c:dPt>
            <c:idx val="7"/>
            <c:invertIfNegative val="0"/>
            <c:bubble3D val="0"/>
            <c:spPr>
              <a:solidFill>
                <a:srgbClr val="0B1F3A"/>
              </a:solidFill>
              <a:effectLst/>
            </c:spPr>
          </c:dPt>
          <c:dPt>
            <c:idx val="8"/>
            <c:invertIfNegative val="0"/>
            <c:bubble3D val="0"/>
            <c:spPr>
              <a:solidFill>
                <a:srgbClr val="0B1F3A"/>
              </a:solidFill>
              <a:effectLst/>
            </c:spPr>
          </c:dPt>
          <c:dPt>
            <c:idx val="9"/>
            <c:invertIfNegative val="0"/>
            <c:bubble3D val="0"/>
            <c:spPr>
              <a:solidFill>
                <a:srgbClr val="0B1F3A"/>
              </a:solidFill>
              <a:effectLst/>
            </c:spPr>
          </c:dPt>
          <c:cat>
            <c:multiLvlStrRef>
              <c:f>Sheet1!$A$2:$A$11</c:f>
              <c:multiLvlStrCache>
                <c:ptCount val="10"/>
                <c:lvl>
                  <c:pt idx="0">
                    <c:v>Business Bay</c:v>
                  </c:pt>
                  <c:pt idx="1">
                    <c:v>Burj Khalifa</c:v>
                  </c:pt>
                  <c:pt idx="2">
                    <c:v>Jumeirah Village Circle</c:v>
                  </c:pt>
                  <c:pt idx="3">
                    <c:v>Palm Jumeirah</c:v>
                  </c:pt>
                  <c:pt idx="4">
                    <c:v>Dubai Creek Harbour</c:v>
                  </c:pt>
                  <c:pt idx="5">
                    <c:v>Dubai Marina</c:v>
                  </c:pt>
                  <c:pt idx="6">
                    <c:v>Jumeirah</c:v>
                  </c:pt>
                  <c:pt idx="7">
                    <c:v>Dubai Hills Estate</c:v>
                  </c:pt>
                  <c:pt idx="8">
                    <c:v>Sobha Hartland</c:v>
                  </c:pt>
                  <c:pt idx="9">
                    <c:v>Arjan</c:v>
                  </c:pt>
                </c:lvl>
              </c:multiLvlStrCache>
            </c:multiLvlStrRef>
          </c:cat>
          <c:val>
            <c:numRef>
              <c:f>Sheet1!$B$2:$B$11</c:f>
              <c:numCache>
                <c:formatCode>General</c:formatCode>
                <c:ptCount val="10"/>
                <c:pt idx="0">
                  <c:v>3.6</c:v>
                </c:pt>
                <c:pt idx="1">
                  <c:v>3.3</c:v>
                </c:pt>
                <c:pt idx="2">
                  <c:v>2.1</c:v>
                </c:pt>
                <c:pt idx="3">
                  <c:v>1.9</c:v>
                </c:pt>
                <c:pt idx="4">
                  <c:v>1.7</c:v>
                </c:pt>
                <c:pt idx="5">
                  <c:v>1.6</c:v>
                </c:pt>
                <c:pt idx="6">
                  <c:v>1.4</c:v>
                </c:pt>
                <c:pt idx="7">
                  <c:v>1.3</c:v>
                </c:pt>
                <c:pt idx="8">
                  <c:v>1.1</c:v>
                </c:pt>
                <c:pt idx="9">
                  <c:v>1</c:v>
                </c:pt>
              </c:numCache>
            </c:numRef>
          </c:val>
        </c:ser>
        <c:dLbls>
          <c:numFmt formatCode="#,##0" sourceLinked="0"/>
          <c:txPr>
            <a:bodyPr/>
            <a:lstStyle/>
            <a:p>
              <a:pPr>
                <a:defRPr b="0" i="0" strike="noStrike" sz="900" u="none">
                  <a:solidFill>
                    <a:srgbClr val="0B1F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00000"/>
          <a:lstStyle/>
          <a:p>
            <a:pPr>
              <a:defRPr sz="950" b="0" i="0" u="none" strike="noStrike">
                <a:solidFill>
                  <a:srgbClr val="1A1A1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5E9"/>
              </a:solidFill>
              <a:prstDash val="solid"/>
              <a:round/>
            </a:ln>
          </c:spPr>
        </c:majorGridlines>
        <c:title>
          <c:tx>
            <c:rich>
              <a:bodyPr/>
              <a:lstStyle/>
              <a:p>
                <a:pPr>
                  <a:defRPr sz="900" b="0" i="0" u="none" strike="noStrike">
                    <a:solidFill>
                      <a:srgbClr val="6B7280"/>
                    </a:solidFill>
                    <a:latin typeface="Arial"/>
                  </a:defRPr>
                </a:pPr>
                <a:r>
                  <a:rPr sz="900" b="0" i="0" u="none" strike="noStrike">
                    <a:solidFill>
                      <a:srgbClr val="6B7280"/>
                    </a:solidFill>
                    <a:latin typeface="Arial"/>
                  </a:rPr>
                  <a:t>Sales (bn AED, approx.)</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Sales (bn AED)</c:v>
                </c:pt>
              </c:strCache>
            </c:strRef>
          </c:tx>
          <c:spPr>
            <a:solidFill>
              <a:srgbClr val="C9A227"/>
            </a:solidFill>
            <a:effectLst/>
          </c:spPr>
          <c:invertIfNegative val="0"/>
          <c:dLbls>
            <c:numFmt formatCode="#,##0" sourceLinked="0"/>
            <c:txPr>
              <a:bodyPr/>
              <a:lstStyle/>
              <a:p>
                <a:pPr>
                  <a:defRPr b="0" i="0" strike="noStrike" sz="1000" u="none">
                    <a:solidFill>
                      <a:srgbClr val="0B1F3A"/>
                    </a:solidFill>
                    <a:latin typeface="Arial"/>
                  </a:defRPr>
                </a:pPr>
              </a:p>
            </c:txPr>
            <c:showLegendKey val="0"/>
            <c:showVal val="1"/>
            <c:showCatName val="0"/>
            <c:showSerName val="0"/>
            <c:showPercent val="0"/>
            <c:showBubbleSize val="0"/>
            <c:showLeaderLines val="0"/>
          </c:dLbls>
          <c:cat>
            <c:multiLvlStrRef>
              <c:f>Sheet1!$A$2:$A$7</c:f>
              <c:multiLvlStrCache>
                <c:ptCount val="6"/>
                <c:lvl>
                  <c:pt idx="0">
                    <c:v>Flat</c:v>
                  </c:pt>
                  <c:pt idx="1">
                    <c:v>Office</c:v>
                  </c:pt>
                  <c:pt idx="2">
                    <c:v>Hotel Apartment</c:v>
                  </c:pt>
                  <c:pt idx="3">
                    <c:v>Hotel Rooms</c:v>
                  </c:pt>
                  <c:pt idx="4">
                    <c:v>Shop</c:v>
                  </c:pt>
                  <c:pt idx="5">
                    <c:v>Show Rooms</c:v>
                  </c:pt>
                </c:lvl>
              </c:multiLvlStrCache>
            </c:multiLvlStrRef>
          </c:cat>
          <c:val>
            <c:numRef>
              <c:f>Sheet1!$B$2:$B$7</c:f>
              <c:numCache>
                <c:formatCode>General</c:formatCode>
                <c:ptCount val="6"/>
                <c:pt idx="0">
                  <c:v>20.1</c:v>
                </c:pt>
                <c:pt idx="1">
                  <c:v>1.2</c:v>
                </c:pt>
                <c:pt idx="2">
                  <c:v>0.35</c:v>
                </c:pt>
                <c:pt idx="3">
                  <c:v>0.15</c:v>
                </c:pt>
                <c:pt idx="4">
                  <c:v>0.12</c:v>
                </c:pt>
                <c:pt idx="5">
                  <c:v>0.08</c:v>
                </c:pt>
              </c:numCache>
            </c:numRef>
          </c:val>
        </c:ser>
        <c:dLbls>
          <c:numFmt formatCode="#,##0" sourceLinked="0"/>
          <c:txPr>
            <a:bodyPr/>
            <a:lstStyle/>
            <a:p>
              <a:pPr>
                <a:defRPr b="0" i="0" strike="noStrike" sz="1000" u="none">
                  <a:solidFill>
                    <a:srgbClr val="0B1F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1A1A1A"/>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3E5E9"/>
              </a:solidFill>
              <a:prstDash val="solid"/>
              <a:round/>
            </a:ln>
          </c:spPr>
        </c:majorGridlines>
        <c:title>
          <c:tx>
            <c:rich>
              <a:bodyPr/>
              <a:lstStyle/>
              <a:p>
                <a:pPr>
                  <a:defRPr sz="900" b="0" i="0" u="none" strike="noStrike">
                    <a:solidFill>
                      <a:srgbClr val="6B7280"/>
                    </a:solidFill>
                    <a:latin typeface="Arial"/>
                  </a:defRPr>
                </a:pPr>
                <a:r>
                  <a:rPr sz="900" b="0" i="0" u="none" strike="noStrike">
                    <a:solidFill>
                      <a:srgbClr val="6B7280"/>
                    </a:solidFill>
                    <a:latin typeface="Arial"/>
                  </a:rPr>
                  <a:t>Sales (bn AED)</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Sales (bn AED)</c:v>
                </c:pt>
              </c:strCache>
            </c:strRef>
          </c:tx>
          <c:spPr>
            <a:solidFill>
              <a:srgbClr val="C9A227"/>
            </a:solidFill>
            <a:effectLst/>
          </c:spPr>
          <c:invertIfNegative val="0"/>
          <c:dLbls>
            <c:numFmt formatCode="#,##0" sourceLinked="0"/>
            <c:txPr>
              <a:bodyPr/>
              <a:lstStyle/>
              <a:p>
                <a:pPr>
                  <a:defRPr b="0" i="0" strike="noStrike" sz="900" u="none">
                    <a:solidFill>
                      <a:srgbClr val="0B1F3A"/>
                    </a:solidFill>
                    <a:latin typeface="Arial"/>
                  </a:defRPr>
                </a:pPr>
              </a:p>
            </c:txPr>
            <c:showLegendKey val="0"/>
            <c:showVal val="1"/>
            <c:showCatName val="0"/>
            <c:showSerName val="0"/>
            <c:showPercent val="0"/>
            <c:showBubbleSize val="0"/>
            <c:showLeaderLines val="0"/>
          </c:dLbls>
          <c:dPt>
            <c:idx val="0"/>
            <c:invertIfNegative val="0"/>
            <c:bubble3D val="0"/>
            <c:spPr>
              <a:solidFill>
                <a:srgbClr val="C9A227"/>
              </a:solidFill>
              <a:effectLst/>
            </c:spPr>
          </c:dPt>
          <c:dPt>
            <c:idx val="1"/>
            <c:invertIfNegative val="0"/>
            <c:bubble3D val="0"/>
            <c:spPr>
              <a:solidFill>
                <a:srgbClr val="C9A227"/>
              </a:solidFill>
              <a:effectLst/>
            </c:spPr>
          </c:dPt>
          <c:dPt>
            <c:idx val="2"/>
            <c:invertIfNegative val="0"/>
            <c:bubble3D val="0"/>
            <c:spPr>
              <a:solidFill>
                <a:srgbClr val="0B1F3A"/>
              </a:solidFill>
              <a:effectLst/>
            </c:spPr>
          </c:dPt>
          <c:dPt>
            <c:idx val="3"/>
            <c:invertIfNegative val="0"/>
            <c:bubble3D val="0"/>
            <c:spPr>
              <a:solidFill>
                <a:srgbClr val="0B1F3A"/>
              </a:solidFill>
              <a:effectLst/>
            </c:spPr>
          </c:dPt>
          <c:dPt>
            <c:idx val="4"/>
            <c:invertIfNegative val="0"/>
            <c:bubble3D val="0"/>
            <c:spPr>
              <a:solidFill>
                <a:srgbClr val="0B1F3A"/>
              </a:solidFill>
              <a:effectLst/>
            </c:spPr>
          </c:dPt>
          <c:dPt>
            <c:idx val="5"/>
            <c:invertIfNegative val="0"/>
            <c:bubble3D val="0"/>
            <c:spPr>
              <a:solidFill>
                <a:srgbClr val="0B1F3A"/>
              </a:solidFill>
              <a:effectLst/>
            </c:spPr>
          </c:dPt>
          <c:dPt>
            <c:idx val="6"/>
            <c:invertIfNegative val="0"/>
            <c:bubble3D val="0"/>
            <c:spPr>
              <a:solidFill>
                <a:srgbClr val="0B1F3A"/>
              </a:solidFill>
              <a:effectLst/>
            </c:spPr>
          </c:dPt>
          <c:dPt>
            <c:idx val="7"/>
            <c:invertIfNegative val="0"/>
            <c:bubble3D val="0"/>
            <c:spPr>
              <a:solidFill>
                <a:srgbClr val="0B1F3A"/>
              </a:solidFill>
              <a:effectLst/>
            </c:spPr>
          </c:dPt>
          <c:dPt>
            <c:idx val="8"/>
            <c:invertIfNegative val="0"/>
            <c:bubble3D val="0"/>
            <c:spPr>
              <a:solidFill>
                <a:srgbClr val="0B1F3A"/>
              </a:solidFill>
              <a:effectLst/>
            </c:spPr>
          </c:dPt>
          <c:dPt>
            <c:idx val="9"/>
            <c:invertIfNegative val="0"/>
            <c:bubble3D val="0"/>
            <c:spPr>
              <a:solidFill>
                <a:srgbClr val="0B1F3A"/>
              </a:solidFill>
              <a:effectLst/>
            </c:spPr>
          </c:dPt>
          <c:cat>
            <c:multiLvlStrRef>
              <c:f>Sheet1!$A$2:$A$11</c:f>
              <c:multiLvlStrCache>
                <c:ptCount val="10"/>
                <c:lvl>
                  <c:pt idx="0">
                    <c:v>2 B/R</c:v>
                  </c:pt>
                  <c:pt idx="1">
                    <c:v>1 B/R</c:v>
                  </c:pt>
                  <c:pt idx="2">
                    <c:v>3 B/R</c:v>
                  </c:pt>
                  <c:pt idx="3">
                    <c:v>Office</c:v>
                  </c:pt>
                  <c:pt idx="4">
                    <c:v>Studio</c:v>
                  </c:pt>
                  <c:pt idx="5">
                    <c:v>4 B/R</c:v>
                  </c:pt>
                  <c:pt idx="6">
                    <c:v>5 B/R</c:v>
                  </c:pt>
                  <c:pt idx="7">
                    <c:v>Shop</c:v>
                  </c:pt>
                  <c:pt idx="8">
                    <c:v>6 B/R</c:v>
                  </c:pt>
                  <c:pt idx="9">
                    <c:v>Penthouse</c:v>
                  </c:pt>
                </c:lvl>
              </c:multiLvlStrCache>
            </c:multiLvlStrRef>
          </c:cat>
          <c:val>
            <c:numRef>
              <c:f>Sheet1!$B$2:$B$11</c:f>
              <c:numCache>
                <c:formatCode>General</c:formatCode>
                <c:ptCount val="10"/>
                <c:pt idx="0">
                  <c:v>5</c:v>
                </c:pt>
                <c:pt idx="1">
                  <c:v>4</c:v>
                </c:pt>
                <c:pt idx="2">
                  <c:v>2.5</c:v>
                </c:pt>
                <c:pt idx="3">
                  <c:v>1.8</c:v>
                </c:pt>
                <c:pt idx="4">
                  <c:v>1.5</c:v>
                </c:pt>
                <c:pt idx="5">
                  <c:v>1.2</c:v>
                </c:pt>
                <c:pt idx="6">
                  <c:v>0.8</c:v>
                </c:pt>
                <c:pt idx="7">
                  <c:v>0.5</c:v>
                </c:pt>
                <c:pt idx="8">
                  <c:v>0.2</c:v>
                </c:pt>
                <c:pt idx="9">
                  <c:v>0.1</c:v>
                </c:pt>
              </c:numCache>
            </c:numRef>
          </c:val>
        </c:ser>
        <c:dLbls>
          <c:numFmt formatCode="#,##0" sourceLinked="0"/>
          <c:txPr>
            <a:bodyPr/>
            <a:lstStyle/>
            <a:p>
              <a:pPr>
                <a:defRPr b="0" i="0" strike="noStrike" sz="900" u="none">
                  <a:solidFill>
                    <a:srgbClr val="0B1F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A1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5E9"/>
              </a:solidFill>
              <a:prstDash val="solid"/>
              <a:round/>
            </a:ln>
          </c:spPr>
        </c:majorGridlines>
        <c:title>
          <c:tx>
            <c:rich>
              <a:bodyPr/>
              <a:lstStyle/>
              <a:p>
                <a:pPr>
                  <a:defRPr sz="900" b="0" i="0" u="none" strike="noStrike">
                    <a:solidFill>
                      <a:srgbClr val="6B7280"/>
                    </a:solidFill>
                    <a:latin typeface="Arial"/>
                  </a:defRPr>
                </a:pPr>
                <a:r>
                  <a:rPr sz="900" b="0" i="0" u="none" strike="noStrike">
                    <a:solidFill>
                      <a:srgbClr val="6B7280"/>
                    </a:solidFill>
                    <a:latin typeface="Arial"/>
                  </a:rPr>
                  <a:t>Sales (bn AED, approx.)</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Value Band</c:v>
                </c:pt>
              </c:strCache>
            </c:strRef>
          </c:tx>
          <c:spPr>
            <a:solidFill>
              <a:schemeClr val="accent1"/>
            </a:solidFill>
            <a:ln w="9525" cap="flat">
              <a:solidFill>
                <a:srgbClr val="F9F9F9"/>
              </a:solidFill>
              <a:prstDash val="solid"/>
              <a:round/>
            </a:ln>
            <a:effectLst/>
          </c:spPr>
          <c:dPt>
            <c:idx val="0"/>
            <c:bubble3D val="0"/>
            <c:spPr>
              <a:solidFill>
                <a:srgbClr val="C9A227"/>
              </a:solidFill>
              <a:effectLst/>
            </c:spPr>
          </c:dPt>
          <c:dPt>
            <c:idx val="1"/>
            <c:bubble3D val="0"/>
            <c:spPr>
              <a:solidFill>
                <a:srgbClr val="0B1F3A"/>
              </a:solidFill>
              <a:effectLst/>
            </c:spPr>
          </c:dPt>
          <c:dPt>
            <c:idx val="2"/>
            <c:bubble3D val="0"/>
            <c:spPr>
              <a:solidFill>
                <a:srgbClr val="6C87AD"/>
              </a:solidFill>
              <a:effectLst/>
            </c:spPr>
          </c:dPt>
          <c:dPt>
            <c:idx val="3"/>
            <c:bubble3D val="0"/>
            <c:spPr>
              <a:solidFill>
                <a:srgbClr val="8A6D1E"/>
              </a:solidFill>
              <a:effectLst/>
            </c:spPr>
          </c:dPt>
          <c:dLbls>
            <c:dLbl>
              <c:idx val="0"/>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Mid-Market</c:v>
                </c:pt>
                <c:pt idx="1">
                  <c:v>High-End</c:v>
                </c:pt>
                <c:pt idx="2">
                  <c:v>Entry</c:v>
                </c:pt>
                <c:pt idx="3">
                  <c:v>Ultra-Premium</c:v>
                </c:pt>
              </c:strCache>
            </c:strRef>
          </c:cat>
          <c:val>
            <c:numRef>
              <c:f>Sheet1!$B$2:$B$5</c:f>
              <c:numCache>
                <c:ptCount val="4"/>
                <c:pt idx="0">
                  <c:v>9.24</c:v>
                </c:pt>
                <c:pt idx="1">
                  <c:v>7.76</c:v>
                </c:pt>
                <c:pt idx="2">
                  <c:v>4.13</c:v>
                </c:pt>
                <c:pt idx="3">
                  <c:v>0.69</c:v>
                </c:pt>
              </c:numCache>
            </c:numRef>
          </c:val>
        </c:ser>
        <c:firstSliceAng val="0"/>
        <c:holeSize val="60"/>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1.png"/><Relationship Id="rId4" Type="http://schemas.openxmlformats.org/officeDocument/2006/relationships/image" Target="../media/image-8-1.png"/><Relationship Id="rId5" Type="http://schemas.openxmlformats.org/officeDocument/2006/relationships/image" Target="../media/image-8-1.png"/><Relationship Id="rId6" Type="http://schemas.openxmlformats.org/officeDocument/2006/relationships/image" Target="../media/image-8-1.png"/><Relationship Id="rId7" Type="http://schemas.openxmlformats.org/officeDocument/2006/relationships/image" Target="../media/image-8-1.png"/><Relationship Id="rId8" Type="http://schemas.openxmlformats.org/officeDocument/2006/relationships/image" Target="../media/image-8-1.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7452360" y="5029200"/>
            <a:ext cx="256032" cy="1828800"/>
          </a:xfrm>
          <a:prstGeom prst="rect">
            <a:avLst/>
          </a:prstGeom>
          <a:solidFill>
            <a:srgbClr val="C9A227"/>
          </a:solidFill>
          <a:ln/>
        </p:spPr>
      </p:sp>
      <p:sp>
        <p:nvSpPr>
          <p:cNvPr id="3" name="Shape 1"/>
          <p:cNvSpPr/>
          <p:nvPr/>
        </p:nvSpPr>
        <p:spPr>
          <a:xfrm>
            <a:off x="7763256" y="4023360"/>
            <a:ext cx="310896" cy="2834640"/>
          </a:xfrm>
          <a:prstGeom prst="rect">
            <a:avLst/>
          </a:prstGeom>
          <a:solidFill>
            <a:srgbClr val="142A4D"/>
          </a:solidFill>
          <a:ln/>
        </p:spPr>
      </p:sp>
      <p:sp>
        <p:nvSpPr>
          <p:cNvPr id="4" name="Shape 2"/>
          <p:cNvSpPr/>
          <p:nvPr/>
        </p:nvSpPr>
        <p:spPr>
          <a:xfrm>
            <a:off x="8129016" y="4572000"/>
            <a:ext cx="237744" cy="2286000"/>
          </a:xfrm>
          <a:prstGeom prst="rect">
            <a:avLst/>
          </a:prstGeom>
          <a:solidFill>
            <a:srgbClr val="142A4D"/>
          </a:solidFill>
          <a:ln/>
        </p:spPr>
      </p:sp>
      <p:sp>
        <p:nvSpPr>
          <p:cNvPr id="5" name="Shape 3"/>
          <p:cNvSpPr/>
          <p:nvPr/>
        </p:nvSpPr>
        <p:spPr>
          <a:xfrm>
            <a:off x="8421624" y="3017520"/>
            <a:ext cx="365760" cy="3840480"/>
          </a:xfrm>
          <a:prstGeom prst="rect">
            <a:avLst/>
          </a:prstGeom>
          <a:solidFill>
            <a:srgbClr val="C9A227"/>
          </a:solidFill>
          <a:ln/>
        </p:spPr>
      </p:sp>
      <p:sp>
        <p:nvSpPr>
          <p:cNvPr id="6" name="Shape 4"/>
          <p:cNvSpPr/>
          <p:nvPr/>
        </p:nvSpPr>
        <p:spPr>
          <a:xfrm>
            <a:off x="8842248" y="4114800"/>
            <a:ext cx="274320" cy="2743200"/>
          </a:xfrm>
          <a:prstGeom prst="rect">
            <a:avLst/>
          </a:prstGeom>
          <a:solidFill>
            <a:srgbClr val="142A4D"/>
          </a:solidFill>
          <a:ln/>
        </p:spPr>
      </p:sp>
      <p:sp>
        <p:nvSpPr>
          <p:cNvPr id="7" name="Shape 5"/>
          <p:cNvSpPr/>
          <p:nvPr/>
        </p:nvSpPr>
        <p:spPr>
          <a:xfrm>
            <a:off x="9171432" y="2286000"/>
            <a:ext cx="457200" cy="4572000"/>
          </a:xfrm>
          <a:prstGeom prst="rect">
            <a:avLst/>
          </a:prstGeom>
          <a:solidFill>
            <a:srgbClr val="142A4D"/>
          </a:solidFill>
          <a:ln/>
        </p:spPr>
      </p:sp>
      <p:sp>
        <p:nvSpPr>
          <p:cNvPr id="8" name="Shape 6"/>
          <p:cNvSpPr/>
          <p:nvPr/>
        </p:nvSpPr>
        <p:spPr>
          <a:xfrm>
            <a:off x="9683496" y="4297680"/>
            <a:ext cx="256032" cy="2560320"/>
          </a:xfrm>
          <a:prstGeom prst="rect">
            <a:avLst/>
          </a:prstGeom>
          <a:solidFill>
            <a:srgbClr val="C9A227"/>
          </a:solidFill>
          <a:ln/>
        </p:spPr>
      </p:sp>
      <p:sp>
        <p:nvSpPr>
          <p:cNvPr id="9" name="Shape 7"/>
          <p:cNvSpPr/>
          <p:nvPr/>
        </p:nvSpPr>
        <p:spPr>
          <a:xfrm>
            <a:off x="9994392" y="3566160"/>
            <a:ext cx="292608" cy="3291840"/>
          </a:xfrm>
          <a:prstGeom prst="rect">
            <a:avLst/>
          </a:prstGeom>
          <a:solidFill>
            <a:srgbClr val="142A4D"/>
          </a:solidFill>
          <a:ln/>
        </p:spPr>
      </p:sp>
      <p:sp>
        <p:nvSpPr>
          <p:cNvPr id="10" name="Shape 8"/>
          <p:cNvSpPr/>
          <p:nvPr/>
        </p:nvSpPr>
        <p:spPr>
          <a:xfrm>
            <a:off x="10341864" y="4846320"/>
            <a:ext cx="237744" cy="2011680"/>
          </a:xfrm>
          <a:prstGeom prst="rect">
            <a:avLst/>
          </a:prstGeom>
          <a:solidFill>
            <a:srgbClr val="142A4D"/>
          </a:solidFill>
          <a:ln/>
        </p:spPr>
      </p:sp>
      <p:sp>
        <p:nvSpPr>
          <p:cNvPr id="11" name="Shape 9"/>
          <p:cNvSpPr/>
          <p:nvPr/>
        </p:nvSpPr>
        <p:spPr>
          <a:xfrm>
            <a:off x="10634472" y="2651760"/>
            <a:ext cx="329184" cy="4206240"/>
          </a:xfrm>
          <a:prstGeom prst="rect">
            <a:avLst/>
          </a:prstGeom>
          <a:solidFill>
            <a:srgbClr val="C9A227"/>
          </a:solidFill>
          <a:ln/>
        </p:spPr>
      </p:sp>
      <p:sp>
        <p:nvSpPr>
          <p:cNvPr id="12" name="Shape 10"/>
          <p:cNvSpPr/>
          <p:nvPr/>
        </p:nvSpPr>
        <p:spPr>
          <a:xfrm>
            <a:off x="11018520" y="4480560"/>
            <a:ext cx="256032" cy="2377440"/>
          </a:xfrm>
          <a:prstGeom prst="rect">
            <a:avLst/>
          </a:prstGeom>
          <a:solidFill>
            <a:srgbClr val="142A4D"/>
          </a:solidFill>
          <a:ln/>
        </p:spPr>
      </p:sp>
      <p:sp>
        <p:nvSpPr>
          <p:cNvPr id="13" name="Shape 11"/>
          <p:cNvSpPr/>
          <p:nvPr/>
        </p:nvSpPr>
        <p:spPr>
          <a:xfrm>
            <a:off x="11329416" y="3840480"/>
            <a:ext cx="274320" cy="3017520"/>
          </a:xfrm>
          <a:prstGeom prst="rect">
            <a:avLst/>
          </a:prstGeom>
          <a:solidFill>
            <a:srgbClr val="142A4D"/>
          </a:solidFill>
          <a:ln/>
        </p:spPr>
      </p:sp>
      <p:sp>
        <p:nvSpPr>
          <p:cNvPr id="14" name="Shape 12"/>
          <p:cNvSpPr/>
          <p:nvPr/>
        </p:nvSpPr>
        <p:spPr>
          <a:xfrm>
            <a:off x="10021824" y="1965960"/>
            <a:ext cx="36576" cy="320040"/>
          </a:xfrm>
          <a:prstGeom prst="rect">
            <a:avLst/>
          </a:prstGeom>
          <a:solidFill>
            <a:srgbClr val="C9A227"/>
          </a:solidFill>
          <a:ln/>
        </p:spPr>
      </p:sp>
      <p:sp>
        <p:nvSpPr>
          <p:cNvPr id="15" name="Text 13"/>
          <p:cNvSpPr/>
          <p:nvPr/>
        </p:nvSpPr>
        <p:spPr>
          <a:xfrm>
            <a:off x="640080" y="2331720"/>
            <a:ext cx="7772400" cy="365760"/>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DUBAI RESIDENTIAL MARKET</a:t>
            </a:r>
            <a:endParaRPr lang="en-US" sz="1400" dirty="0"/>
          </a:p>
        </p:txBody>
      </p:sp>
      <p:sp>
        <p:nvSpPr>
          <p:cNvPr id="16" name="Text 14"/>
          <p:cNvSpPr/>
          <p:nvPr/>
        </p:nvSpPr>
        <p:spPr>
          <a:xfrm>
            <a:off x="594360" y="2651760"/>
            <a:ext cx="8503920" cy="118872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Market Analysis Report</a:t>
            </a:r>
            <a:endParaRPr lang="en-US" sz="4600" dirty="0"/>
          </a:p>
        </p:txBody>
      </p:sp>
      <p:sp>
        <p:nvSpPr>
          <p:cNvPr id="17" name="Text 15"/>
          <p:cNvSpPr/>
          <p:nvPr/>
        </p:nvSpPr>
        <p:spPr>
          <a:xfrm>
            <a:off x="640080" y="3703320"/>
            <a:ext cx="6675120" cy="640080"/>
          </a:xfrm>
          <a:prstGeom prst="rect">
            <a:avLst/>
          </a:prstGeom>
          <a:noFill/>
          <a:ln/>
        </p:spPr>
        <p:txBody>
          <a:bodyPr wrap="square" rtlCol="0" anchor="ctr"/>
          <a:lstStyle/>
          <a:p>
            <a:pPr indent="0" marL="0">
              <a:buNone/>
            </a:pPr>
            <a:r>
              <a:rPr lang="en-US" sz="1400" i="1" dirty="0">
                <a:solidFill>
                  <a:srgbClr val="C7CEDD"/>
                </a:solidFill>
                <a:latin typeface="Calibri" pitchFamily="34" charset="0"/>
                <a:ea typeface="Calibri" pitchFamily="34" charset="-122"/>
                <a:cs typeface="Calibri" pitchFamily="34" charset="-120"/>
              </a:rPr>
              <a:t>A performance review of residential sales, pricing, and segmentation trends across Dubai — 2026</a:t>
            </a:r>
            <a:endParaRPr lang="en-US" sz="1400" dirty="0"/>
          </a:p>
        </p:txBody>
      </p:sp>
      <p:sp>
        <p:nvSpPr>
          <p:cNvPr id="18" name="Shape 16"/>
          <p:cNvSpPr/>
          <p:nvPr/>
        </p:nvSpPr>
        <p:spPr>
          <a:xfrm>
            <a:off x="640080" y="4343400"/>
            <a:ext cx="1463040" cy="0"/>
          </a:xfrm>
          <a:prstGeom prst="line">
            <a:avLst/>
          </a:prstGeom>
          <a:noFill/>
          <a:ln w="25400">
            <a:solidFill>
              <a:srgbClr val="C9A227"/>
            </a:solidFill>
            <a:prstDash val="solid"/>
          </a:ln>
        </p:spPr>
      </p:sp>
      <p:sp>
        <p:nvSpPr>
          <p:cNvPr id="19" name="Text 17"/>
          <p:cNvSpPr/>
          <p:nvPr/>
        </p:nvSpPr>
        <p:spPr>
          <a:xfrm>
            <a:off x="640080" y="6263640"/>
            <a:ext cx="8229600" cy="274320"/>
          </a:xfrm>
          <a:prstGeom prst="rect">
            <a:avLst/>
          </a:prstGeom>
          <a:noFill/>
          <a:ln/>
        </p:spPr>
        <p:txBody>
          <a:bodyPr wrap="square" rtlCol="0" anchor="ctr"/>
          <a:lstStyle/>
          <a:p>
            <a:pPr indent="0" marL="0">
              <a:buNone/>
            </a:pPr>
            <a:r>
              <a:rPr lang="en-US" sz="900" spc="150" kern="0" dirty="0">
                <a:solidFill>
                  <a:srgbClr val="8C97AC"/>
                </a:solidFill>
                <a:latin typeface="Calibri" pitchFamily="34" charset="0"/>
                <a:ea typeface="Calibri" pitchFamily="34" charset="-122"/>
                <a:cs typeface="Calibri" pitchFamily="34" charset="-120"/>
              </a:rPr>
              <a:t>PREPARED FOR INTERNAL MARKET REVIEW  •  SOURCE: POWER BI RESIDENTIAL ANALYSIS DASHBOARD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502920"/>
            <a:ext cx="54864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EXECUTIVE SUMMARY</a:t>
            </a:r>
            <a:endParaRPr lang="en-US" sz="1200" dirty="0"/>
          </a:p>
        </p:txBody>
      </p:sp>
      <p:sp>
        <p:nvSpPr>
          <p:cNvPr id="3" name="Text 1"/>
          <p:cNvSpPr/>
          <p:nvPr/>
        </p:nvSpPr>
        <p:spPr>
          <a:xfrm>
            <a:off x="548640" y="822960"/>
            <a:ext cx="9601200" cy="640080"/>
          </a:xfrm>
          <a:prstGeom prst="rect">
            <a:avLst/>
          </a:prstGeom>
          <a:noFill/>
          <a:ln/>
        </p:spPr>
        <p:txBody>
          <a:bodyPr wrap="square"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2026 Performance at a Glance</a:t>
            </a:r>
            <a:endParaRPr lang="en-US" sz="3000" dirty="0"/>
          </a:p>
        </p:txBody>
      </p:sp>
      <p:sp>
        <p:nvSpPr>
          <p:cNvPr id="4" name="Text 2"/>
          <p:cNvSpPr/>
          <p:nvPr/>
        </p:nvSpPr>
        <p:spPr>
          <a:xfrm>
            <a:off x="548640" y="1463040"/>
            <a:ext cx="9692640" cy="50292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Dubai's residential market recorded strong full-year activity, anchored by high transaction volume and sustained pricing power across the mid-to-high value segments.</a:t>
            </a:r>
            <a:endParaRPr lang="en-US" sz="1300" dirty="0"/>
          </a:p>
        </p:txBody>
      </p:sp>
      <p:sp>
        <p:nvSpPr>
          <p:cNvPr id="5" name="Shape 3"/>
          <p:cNvSpPr/>
          <p:nvPr/>
        </p:nvSpPr>
        <p:spPr>
          <a:xfrm>
            <a:off x="548640" y="2331720"/>
            <a:ext cx="2450592" cy="3063240"/>
          </a:xfrm>
          <a:prstGeom prst="roundRect">
            <a:avLst>
              <a:gd name="adj" fmla="val 3731"/>
            </a:avLst>
          </a:prstGeom>
          <a:solidFill>
            <a:srgbClr val="FFFFFF"/>
          </a:solidFill>
          <a:ln/>
          <a:effectLst>
            <a:outerShdw sx="100000" sy="100000" kx="0" ky="0" algn="bl" rotWithShape="0" blurRad="101600" dist="38100" dir="5400000">
              <a:srgbClr val="1A1A1A">
                <a:alpha val="12000"/>
              </a:srgbClr>
            </a:outerShdw>
          </a:effectLst>
        </p:spPr>
      </p:sp>
      <p:sp>
        <p:nvSpPr>
          <p:cNvPr id="6" name="Shape 4"/>
          <p:cNvSpPr/>
          <p:nvPr/>
        </p:nvSpPr>
        <p:spPr>
          <a:xfrm>
            <a:off x="1426464" y="2651760"/>
            <a:ext cx="694944" cy="694944"/>
          </a:xfrm>
          <a:prstGeom prst="oval">
            <a:avLst/>
          </a:prstGeom>
          <a:solidFill>
            <a:srgbClr val="0B1F3A"/>
          </a:solidFill>
          <a:ln/>
        </p:spPr>
      </p:sp>
      <p:pic>
        <p:nvPicPr>
          <p:cNvPr id="7" name="Image 0" descr="/home/claude/dubai_deck/icons/sales.png">    </p:cNvPr>
          <p:cNvPicPr>
            <a:picLocks noChangeAspect="1"/>
          </p:cNvPicPr>
          <p:nvPr/>
        </p:nvPicPr>
        <p:blipFill>
          <a:blip r:embed="rId1"/>
          <a:stretch>
            <a:fillRect/>
          </a:stretch>
        </p:blipFill>
        <p:spPr>
          <a:xfrm>
            <a:off x="1600200" y="2825496"/>
            <a:ext cx="347472" cy="347472"/>
          </a:xfrm>
          <a:prstGeom prst="rect">
            <a:avLst/>
          </a:prstGeom>
        </p:spPr>
      </p:pic>
      <p:sp>
        <p:nvSpPr>
          <p:cNvPr id="8" name="Text 5"/>
          <p:cNvSpPr/>
          <p:nvPr/>
        </p:nvSpPr>
        <p:spPr>
          <a:xfrm>
            <a:off x="640080" y="3566160"/>
            <a:ext cx="2267712" cy="640080"/>
          </a:xfrm>
          <a:prstGeom prst="rect">
            <a:avLst/>
          </a:prstGeom>
          <a:noFill/>
          <a:ln/>
        </p:spPr>
        <p:txBody>
          <a:bodyPr wrap="square" rtlCol="0" anchor="ctr"/>
          <a:lstStyle/>
          <a:p>
            <a:pPr algn="ctr" indent="0" marL="0">
              <a:buNone/>
            </a:pPr>
            <a:r>
              <a:rPr lang="en-US" sz="3000" b="1" dirty="0">
                <a:solidFill>
                  <a:srgbClr val="0B1F3A"/>
                </a:solidFill>
                <a:latin typeface="Cambria" pitchFamily="34" charset="0"/>
                <a:ea typeface="Cambria" pitchFamily="34" charset="-122"/>
                <a:cs typeface="Cambria" pitchFamily="34" charset="-120"/>
              </a:rPr>
              <a:t>22bn</a:t>
            </a:r>
            <a:endParaRPr lang="en-US" sz="3000" dirty="0"/>
          </a:p>
        </p:txBody>
      </p:sp>
      <p:sp>
        <p:nvSpPr>
          <p:cNvPr id="9" name="Text 6"/>
          <p:cNvSpPr/>
          <p:nvPr/>
        </p:nvSpPr>
        <p:spPr>
          <a:xfrm>
            <a:off x="685800" y="4251960"/>
            <a:ext cx="2176272" cy="411480"/>
          </a:xfrm>
          <a:prstGeom prst="rect">
            <a:avLst/>
          </a:prstGeom>
          <a:noFill/>
          <a:ln/>
        </p:spPr>
        <p:txBody>
          <a:bodyPr wrap="square" rtlCol="0" anchor="ctr"/>
          <a:lstStyle/>
          <a:p>
            <a:pPr algn="ctr" indent="0" marL="0">
              <a:buNone/>
            </a:pPr>
            <a:r>
              <a:rPr lang="en-US" sz="1050" b="1" spc="50" kern="0" dirty="0">
                <a:solidFill>
                  <a:srgbClr val="C9A227"/>
                </a:solidFill>
                <a:latin typeface="Calibri" pitchFamily="34" charset="0"/>
                <a:ea typeface="Calibri" pitchFamily="34" charset="-122"/>
                <a:cs typeface="Calibri" pitchFamily="34" charset="-120"/>
              </a:rPr>
              <a:t>TOTAL SALES VALUE</a:t>
            </a:r>
            <a:endParaRPr lang="en-US" sz="1050" dirty="0"/>
          </a:p>
        </p:txBody>
      </p:sp>
      <p:sp>
        <p:nvSpPr>
          <p:cNvPr id="10" name="Text 7"/>
          <p:cNvSpPr/>
          <p:nvPr/>
        </p:nvSpPr>
        <p:spPr>
          <a:xfrm>
            <a:off x="685800" y="4663440"/>
            <a:ext cx="2176272" cy="365760"/>
          </a:xfrm>
          <a:prstGeom prst="rect">
            <a:avLst/>
          </a:prstGeom>
          <a:noFill/>
          <a:ln/>
        </p:spPr>
        <p:txBody>
          <a:bodyPr wrap="square"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AED, full year</a:t>
            </a:r>
            <a:endParaRPr lang="en-US" sz="1000" dirty="0"/>
          </a:p>
        </p:txBody>
      </p:sp>
      <p:sp>
        <p:nvSpPr>
          <p:cNvPr id="11" name="Shape 8"/>
          <p:cNvSpPr/>
          <p:nvPr/>
        </p:nvSpPr>
        <p:spPr>
          <a:xfrm>
            <a:off x="3200400" y="2331720"/>
            <a:ext cx="2450592" cy="3063240"/>
          </a:xfrm>
          <a:prstGeom prst="roundRect">
            <a:avLst>
              <a:gd name="adj" fmla="val 3731"/>
            </a:avLst>
          </a:prstGeom>
          <a:solidFill>
            <a:srgbClr val="FFFFFF"/>
          </a:solidFill>
          <a:ln/>
          <a:effectLst>
            <a:outerShdw sx="100000" sy="100000" kx="0" ky="0" algn="bl" rotWithShape="0" blurRad="101600" dist="38100" dir="5400000">
              <a:srgbClr val="1A1A1A">
                <a:alpha val="12000"/>
              </a:srgbClr>
            </a:outerShdw>
          </a:effectLst>
        </p:spPr>
      </p:sp>
      <p:sp>
        <p:nvSpPr>
          <p:cNvPr id="12" name="Shape 9"/>
          <p:cNvSpPr/>
          <p:nvPr/>
        </p:nvSpPr>
        <p:spPr>
          <a:xfrm>
            <a:off x="4078224" y="2651760"/>
            <a:ext cx="694944" cy="694944"/>
          </a:xfrm>
          <a:prstGeom prst="oval">
            <a:avLst/>
          </a:prstGeom>
          <a:solidFill>
            <a:srgbClr val="0B1F3A"/>
          </a:solidFill>
          <a:ln/>
        </p:spPr>
      </p:sp>
      <p:pic>
        <p:nvPicPr>
          <p:cNvPr id="13" name="Image 1" descr="/home/claude/dubai_deck/icons/properties.png">    </p:cNvPr>
          <p:cNvPicPr>
            <a:picLocks noChangeAspect="1"/>
          </p:cNvPicPr>
          <p:nvPr/>
        </p:nvPicPr>
        <p:blipFill>
          <a:blip r:embed="rId2"/>
          <a:stretch>
            <a:fillRect/>
          </a:stretch>
        </p:blipFill>
        <p:spPr>
          <a:xfrm>
            <a:off x="4251960" y="2825496"/>
            <a:ext cx="347472" cy="347472"/>
          </a:xfrm>
          <a:prstGeom prst="rect">
            <a:avLst/>
          </a:prstGeom>
        </p:spPr>
      </p:pic>
      <p:sp>
        <p:nvSpPr>
          <p:cNvPr id="14" name="Text 10"/>
          <p:cNvSpPr/>
          <p:nvPr/>
        </p:nvSpPr>
        <p:spPr>
          <a:xfrm>
            <a:off x="3291840" y="3566160"/>
            <a:ext cx="2267712" cy="640080"/>
          </a:xfrm>
          <a:prstGeom prst="rect">
            <a:avLst/>
          </a:prstGeom>
          <a:noFill/>
          <a:ln/>
        </p:spPr>
        <p:txBody>
          <a:bodyPr wrap="square" rtlCol="0" anchor="ctr"/>
          <a:lstStyle/>
          <a:p>
            <a:pPr algn="ctr" indent="0" marL="0">
              <a:buNone/>
            </a:pPr>
            <a:r>
              <a:rPr lang="en-US" sz="3000" b="1" dirty="0">
                <a:solidFill>
                  <a:srgbClr val="0B1F3A"/>
                </a:solidFill>
                <a:latin typeface="Cambria" pitchFamily="34" charset="0"/>
                <a:ea typeface="Cambria" pitchFamily="34" charset="-122"/>
                <a:cs typeface="Cambria" pitchFamily="34" charset="-120"/>
              </a:rPr>
              <a:t>10,453</a:t>
            </a:r>
            <a:endParaRPr lang="en-US" sz="3000" dirty="0"/>
          </a:p>
        </p:txBody>
      </p:sp>
      <p:sp>
        <p:nvSpPr>
          <p:cNvPr id="15" name="Text 11"/>
          <p:cNvSpPr/>
          <p:nvPr/>
        </p:nvSpPr>
        <p:spPr>
          <a:xfrm>
            <a:off x="3337560" y="4251960"/>
            <a:ext cx="2176272" cy="411480"/>
          </a:xfrm>
          <a:prstGeom prst="rect">
            <a:avLst/>
          </a:prstGeom>
          <a:noFill/>
          <a:ln/>
        </p:spPr>
        <p:txBody>
          <a:bodyPr wrap="square" rtlCol="0" anchor="ctr"/>
          <a:lstStyle/>
          <a:p>
            <a:pPr algn="ctr" indent="0" marL="0">
              <a:buNone/>
            </a:pPr>
            <a:r>
              <a:rPr lang="en-US" sz="1050" b="1" spc="50" kern="0" dirty="0">
                <a:solidFill>
                  <a:srgbClr val="C9A227"/>
                </a:solidFill>
                <a:latin typeface="Calibri" pitchFamily="34" charset="0"/>
                <a:ea typeface="Calibri" pitchFamily="34" charset="-122"/>
                <a:cs typeface="Calibri" pitchFamily="34" charset="-120"/>
              </a:rPr>
              <a:t>TOTAL PROPERTIES SOLD</a:t>
            </a:r>
            <a:endParaRPr lang="en-US" sz="1050" dirty="0"/>
          </a:p>
        </p:txBody>
      </p:sp>
      <p:sp>
        <p:nvSpPr>
          <p:cNvPr id="16" name="Text 12"/>
          <p:cNvSpPr/>
          <p:nvPr/>
        </p:nvSpPr>
        <p:spPr>
          <a:xfrm>
            <a:off x="3337560" y="4663440"/>
            <a:ext cx="2176272" cy="365760"/>
          </a:xfrm>
          <a:prstGeom prst="rect">
            <a:avLst/>
          </a:prstGeom>
          <a:noFill/>
          <a:ln/>
        </p:spPr>
        <p:txBody>
          <a:bodyPr wrap="square"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transactions closed</a:t>
            </a:r>
            <a:endParaRPr lang="en-US" sz="1000" dirty="0"/>
          </a:p>
        </p:txBody>
      </p:sp>
      <p:sp>
        <p:nvSpPr>
          <p:cNvPr id="17" name="Shape 13"/>
          <p:cNvSpPr/>
          <p:nvPr/>
        </p:nvSpPr>
        <p:spPr>
          <a:xfrm>
            <a:off x="5852160" y="2331720"/>
            <a:ext cx="2450592" cy="3063240"/>
          </a:xfrm>
          <a:prstGeom prst="roundRect">
            <a:avLst>
              <a:gd name="adj" fmla="val 3731"/>
            </a:avLst>
          </a:prstGeom>
          <a:solidFill>
            <a:srgbClr val="FFFFFF"/>
          </a:solidFill>
          <a:ln/>
          <a:effectLst>
            <a:outerShdw sx="100000" sy="100000" kx="0" ky="0" algn="bl" rotWithShape="0" blurRad="101600" dist="38100" dir="5400000">
              <a:srgbClr val="1A1A1A">
                <a:alpha val="12000"/>
              </a:srgbClr>
            </a:outerShdw>
          </a:effectLst>
        </p:spPr>
      </p:sp>
      <p:sp>
        <p:nvSpPr>
          <p:cNvPr id="18" name="Shape 14"/>
          <p:cNvSpPr/>
          <p:nvPr/>
        </p:nvSpPr>
        <p:spPr>
          <a:xfrm>
            <a:off x="6729984" y="2651760"/>
            <a:ext cx="694944" cy="694944"/>
          </a:xfrm>
          <a:prstGeom prst="oval">
            <a:avLst/>
          </a:prstGeom>
          <a:solidFill>
            <a:srgbClr val="0B1F3A"/>
          </a:solidFill>
          <a:ln/>
        </p:spPr>
      </p:sp>
      <p:pic>
        <p:nvPicPr>
          <p:cNvPr id="19" name="Image 2" descr="/home/claude/dubai_deck/icons/price.png">    </p:cNvPr>
          <p:cNvPicPr>
            <a:picLocks noChangeAspect="1"/>
          </p:cNvPicPr>
          <p:nvPr/>
        </p:nvPicPr>
        <p:blipFill>
          <a:blip r:embed="rId3"/>
          <a:stretch>
            <a:fillRect/>
          </a:stretch>
        </p:blipFill>
        <p:spPr>
          <a:xfrm>
            <a:off x="6903720" y="2825496"/>
            <a:ext cx="347472" cy="347472"/>
          </a:xfrm>
          <a:prstGeom prst="rect">
            <a:avLst/>
          </a:prstGeom>
        </p:spPr>
      </p:pic>
      <p:sp>
        <p:nvSpPr>
          <p:cNvPr id="20" name="Text 15"/>
          <p:cNvSpPr/>
          <p:nvPr/>
        </p:nvSpPr>
        <p:spPr>
          <a:xfrm>
            <a:off x="5943600" y="3566160"/>
            <a:ext cx="2267712" cy="640080"/>
          </a:xfrm>
          <a:prstGeom prst="rect">
            <a:avLst/>
          </a:prstGeom>
          <a:noFill/>
          <a:ln/>
        </p:spPr>
        <p:txBody>
          <a:bodyPr wrap="square" rtlCol="0" anchor="ctr"/>
          <a:lstStyle/>
          <a:p>
            <a:pPr algn="ctr" indent="0" marL="0">
              <a:buNone/>
            </a:pPr>
            <a:r>
              <a:rPr lang="en-US" sz="3000" b="1" dirty="0">
                <a:solidFill>
                  <a:srgbClr val="0B1F3A"/>
                </a:solidFill>
                <a:latin typeface="Cambria" pitchFamily="34" charset="0"/>
                <a:ea typeface="Cambria" pitchFamily="34" charset="-122"/>
                <a:cs typeface="Cambria" pitchFamily="34" charset="-120"/>
              </a:rPr>
              <a:t>2M</a:t>
            </a:r>
            <a:endParaRPr lang="en-US" sz="3000" dirty="0"/>
          </a:p>
        </p:txBody>
      </p:sp>
      <p:sp>
        <p:nvSpPr>
          <p:cNvPr id="21" name="Text 16"/>
          <p:cNvSpPr/>
          <p:nvPr/>
        </p:nvSpPr>
        <p:spPr>
          <a:xfrm>
            <a:off x="5989320" y="4251960"/>
            <a:ext cx="2176272" cy="411480"/>
          </a:xfrm>
          <a:prstGeom prst="rect">
            <a:avLst/>
          </a:prstGeom>
          <a:noFill/>
          <a:ln/>
        </p:spPr>
        <p:txBody>
          <a:bodyPr wrap="square" rtlCol="0" anchor="ctr"/>
          <a:lstStyle/>
          <a:p>
            <a:pPr algn="ctr" indent="0" marL="0">
              <a:buNone/>
            </a:pPr>
            <a:r>
              <a:rPr lang="en-US" sz="1050" b="1" spc="50" kern="0" dirty="0">
                <a:solidFill>
                  <a:srgbClr val="C9A227"/>
                </a:solidFill>
                <a:latin typeface="Calibri" pitchFamily="34" charset="0"/>
                <a:ea typeface="Calibri" pitchFamily="34" charset="-122"/>
                <a:cs typeface="Calibri" pitchFamily="34" charset="-120"/>
              </a:rPr>
              <a:t>AVERAGE PROPERTY PRICE</a:t>
            </a:r>
            <a:endParaRPr lang="en-US" sz="1050" dirty="0"/>
          </a:p>
        </p:txBody>
      </p:sp>
      <p:sp>
        <p:nvSpPr>
          <p:cNvPr id="22" name="Text 17"/>
          <p:cNvSpPr/>
          <p:nvPr/>
        </p:nvSpPr>
        <p:spPr>
          <a:xfrm>
            <a:off x="5989320" y="4663440"/>
            <a:ext cx="2176272" cy="365760"/>
          </a:xfrm>
          <a:prstGeom prst="rect">
            <a:avLst/>
          </a:prstGeom>
          <a:noFill/>
          <a:ln/>
        </p:spPr>
        <p:txBody>
          <a:bodyPr wrap="square"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AED per unit</a:t>
            </a:r>
            <a:endParaRPr lang="en-US" sz="1000" dirty="0"/>
          </a:p>
        </p:txBody>
      </p:sp>
      <p:sp>
        <p:nvSpPr>
          <p:cNvPr id="23" name="Shape 18"/>
          <p:cNvSpPr/>
          <p:nvPr/>
        </p:nvSpPr>
        <p:spPr>
          <a:xfrm>
            <a:off x="8503920" y="2331720"/>
            <a:ext cx="2450592" cy="3063240"/>
          </a:xfrm>
          <a:prstGeom prst="roundRect">
            <a:avLst>
              <a:gd name="adj" fmla="val 3731"/>
            </a:avLst>
          </a:prstGeom>
          <a:solidFill>
            <a:srgbClr val="FFFFFF"/>
          </a:solidFill>
          <a:ln/>
          <a:effectLst>
            <a:outerShdw sx="100000" sy="100000" kx="0" ky="0" algn="bl" rotWithShape="0" blurRad="101600" dist="38100" dir="5400000">
              <a:srgbClr val="1A1A1A">
                <a:alpha val="12000"/>
              </a:srgbClr>
            </a:outerShdw>
          </a:effectLst>
        </p:spPr>
      </p:sp>
      <p:sp>
        <p:nvSpPr>
          <p:cNvPr id="24" name="Shape 19"/>
          <p:cNvSpPr/>
          <p:nvPr/>
        </p:nvSpPr>
        <p:spPr>
          <a:xfrm>
            <a:off x="9381744" y="2651760"/>
            <a:ext cx="694944" cy="694944"/>
          </a:xfrm>
          <a:prstGeom prst="oval">
            <a:avLst/>
          </a:prstGeom>
          <a:solidFill>
            <a:srgbClr val="0B1F3A"/>
          </a:solidFill>
          <a:ln/>
        </p:spPr>
      </p:sp>
      <p:pic>
        <p:nvPicPr>
          <p:cNvPr id="25" name="Image 3" descr="/home/claude/dubai_deck/icons/pricesqft.png">    </p:cNvPr>
          <p:cNvPicPr>
            <a:picLocks noChangeAspect="1"/>
          </p:cNvPicPr>
          <p:nvPr/>
        </p:nvPicPr>
        <p:blipFill>
          <a:blip r:embed="rId4"/>
          <a:stretch>
            <a:fillRect/>
          </a:stretch>
        </p:blipFill>
        <p:spPr>
          <a:xfrm>
            <a:off x="9555480" y="2825496"/>
            <a:ext cx="347472" cy="347472"/>
          </a:xfrm>
          <a:prstGeom prst="rect">
            <a:avLst/>
          </a:prstGeom>
        </p:spPr>
      </p:pic>
      <p:sp>
        <p:nvSpPr>
          <p:cNvPr id="26" name="Text 20"/>
          <p:cNvSpPr/>
          <p:nvPr/>
        </p:nvSpPr>
        <p:spPr>
          <a:xfrm>
            <a:off x="8595360" y="3566160"/>
            <a:ext cx="2267712" cy="640080"/>
          </a:xfrm>
          <a:prstGeom prst="rect">
            <a:avLst/>
          </a:prstGeom>
          <a:noFill/>
          <a:ln/>
        </p:spPr>
        <p:txBody>
          <a:bodyPr wrap="square" rtlCol="0" anchor="ctr"/>
          <a:lstStyle/>
          <a:p>
            <a:pPr algn="ctr" indent="0" marL="0">
              <a:buNone/>
            </a:pPr>
            <a:r>
              <a:rPr lang="en-US" sz="3000" b="1" dirty="0">
                <a:solidFill>
                  <a:srgbClr val="0B1F3A"/>
                </a:solidFill>
                <a:latin typeface="Cambria" pitchFamily="34" charset="0"/>
                <a:ea typeface="Cambria" pitchFamily="34" charset="-122"/>
                <a:cs typeface="Cambria" pitchFamily="34" charset="-120"/>
              </a:rPr>
              <a:t>20,995</a:t>
            </a:r>
            <a:endParaRPr lang="en-US" sz="3000" dirty="0"/>
          </a:p>
        </p:txBody>
      </p:sp>
      <p:sp>
        <p:nvSpPr>
          <p:cNvPr id="27" name="Text 21"/>
          <p:cNvSpPr/>
          <p:nvPr/>
        </p:nvSpPr>
        <p:spPr>
          <a:xfrm>
            <a:off x="8641080" y="4251960"/>
            <a:ext cx="2176272" cy="411480"/>
          </a:xfrm>
          <a:prstGeom prst="rect">
            <a:avLst/>
          </a:prstGeom>
          <a:noFill/>
          <a:ln/>
        </p:spPr>
        <p:txBody>
          <a:bodyPr wrap="square" rtlCol="0" anchor="ctr"/>
          <a:lstStyle/>
          <a:p>
            <a:pPr algn="ctr" indent="0" marL="0">
              <a:buNone/>
            </a:pPr>
            <a:r>
              <a:rPr lang="en-US" sz="1050" b="1" spc="50" kern="0" dirty="0">
                <a:solidFill>
                  <a:srgbClr val="C9A227"/>
                </a:solidFill>
                <a:latin typeface="Calibri" pitchFamily="34" charset="0"/>
                <a:ea typeface="Calibri" pitchFamily="34" charset="-122"/>
                <a:cs typeface="Calibri" pitchFamily="34" charset="-120"/>
              </a:rPr>
              <a:t>AVERAGE PRICE / SQ.FT</a:t>
            </a:r>
            <a:endParaRPr lang="en-US" sz="1050" dirty="0"/>
          </a:p>
        </p:txBody>
      </p:sp>
      <p:sp>
        <p:nvSpPr>
          <p:cNvPr id="28" name="Text 22"/>
          <p:cNvSpPr/>
          <p:nvPr/>
        </p:nvSpPr>
        <p:spPr>
          <a:xfrm>
            <a:off x="8641080" y="4663440"/>
            <a:ext cx="2176272" cy="365760"/>
          </a:xfrm>
          <a:prstGeom prst="rect">
            <a:avLst/>
          </a:prstGeom>
          <a:noFill/>
          <a:ln/>
        </p:spPr>
        <p:txBody>
          <a:bodyPr wrap="square"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AED per sq.ft</a:t>
            </a:r>
            <a:endParaRPr lang="en-US" sz="1000" dirty="0"/>
          </a:p>
        </p:txBody>
      </p:sp>
      <p:sp>
        <p:nvSpPr>
          <p:cNvPr id="29" name="Text 23"/>
          <p:cNvSpPr/>
          <p:nvPr/>
        </p:nvSpPr>
        <p:spPr>
          <a:xfrm>
            <a:off x="457200" y="6446520"/>
            <a:ext cx="7315200" cy="274320"/>
          </a:xfrm>
          <a:prstGeom prst="rect">
            <a:avLst/>
          </a:prstGeom>
          <a:noFill/>
          <a:ln/>
        </p:spPr>
        <p:txBody>
          <a:bodyPr wrap="square" rtlCol="0" anchor="ctr"/>
          <a:lstStyle/>
          <a:p>
            <a:pPr indent="0" marL="0">
              <a:buNone/>
            </a:pPr>
            <a:r>
              <a:rPr lang="en-US" sz="800" spc="100" kern="0" dirty="0">
                <a:solidFill>
                  <a:srgbClr val="6B7280"/>
                </a:solidFill>
                <a:latin typeface="Calibri" pitchFamily="34" charset="0"/>
                <a:ea typeface="Calibri" pitchFamily="34" charset="-122"/>
                <a:cs typeface="Calibri" pitchFamily="34" charset="-120"/>
              </a:rPr>
              <a:t>DUBAI RESIDENTIAL MARKET ANALYSIS  |  2026</a:t>
            </a:r>
            <a:endParaRPr lang="en-US" sz="800" dirty="0"/>
          </a:p>
        </p:txBody>
      </p:sp>
      <p:sp>
        <p:nvSpPr>
          <p:cNvPr id="30" name="Text 24"/>
          <p:cNvSpPr/>
          <p:nvPr/>
        </p:nvSpPr>
        <p:spPr>
          <a:xfrm>
            <a:off x="11274552" y="6446520"/>
            <a:ext cx="457200" cy="274320"/>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54864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SALES PERFORMANCE</a:t>
            </a:r>
            <a:endParaRPr lang="en-US" sz="1200" dirty="0"/>
          </a:p>
        </p:txBody>
      </p:sp>
      <p:sp>
        <p:nvSpPr>
          <p:cNvPr id="3" name="Text 1"/>
          <p:cNvSpPr/>
          <p:nvPr/>
        </p:nvSpPr>
        <p:spPr>
          <a:xfrm>
            <a:off x="548640" y="822960"/>
            <a:ext cx="9601200" cy="640080"/>
          </a:xfrm>
          <a:prstGeom prst="rect">
            <a:avLst/>
          </a:prstGeom>
          <a:noFill/>
          <a:ln/>
        </p:spPr>
        <p:txBody>
          <a:bodyPr wrap="square"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Monthly Sales Trend</a:t>
            </a:r>
            <a:endParaRPr lang="en-US" sz="3000" dirty="0"/>
          </a:p>
        </p:txBody>
      </p:sp>
      <p:graphicFrame>
        <p:nvGraphicFramePr>
          <p:cNvPr id="4" name="Chart 0" descr=""/>
          <p:cNvGraphicFramePr/>
          <p:nvPr/>
        </p:nvGraphicFramePr>
        <p:xfrm>
          <a:off x="548640" y="1600200"/>
          <a:ext cx="6949440" cy="42976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600200"/>
            <a:ext cx="3840480" cy="4297680"/>
          </a:xfrm>
          <a:prstGeom prst="roundRect">
            <a:avLst>
              <a:gd name="adj" fmla="val 2381"/>
            </a:avLst>
          </a:prstGeom>
          <a:solidFill>
            <a:srgbClr val="0B1F3A"/>
          </a:solidFill>
          <a:ln/>
        </p:spPr>
      </p:sp>
      <p:pic>
        <p:nvPicPr>
          <p:cNvPr id="6" name="Image 0" descr="/home/claude/dubai_deck/icons/trenddown.png">    </p:cNvPr>
          <p:cNvPicPr>
            <a:picLocks noChangeAspect="1"/>
          </p:cNvPicPr>
          <p:nvPr/>
        </p:nvPicPr>
        <p:blipFill>
          <a:blip r:embed="rId2"/>
          <a:stretch>
            <a:fillRect/>
          </a:stretch>
        </p:blipFill>
        <p:spPr>
          <a:xfrm>
            <a:off x="8092440" y="1920240"/>
            <a:ext cx="457200" cy="457200"/>
          </a:xfrm>
          <a:prstGeom prst="rect">
            <a:avLst/>
          </a:prstGeom>
        </p:spPr>
      </p:pic>
      <p:sp>
        <p:nvSpPr>
          <p:cNvPr id="7" name="Text 3"/>
          <p:cNvSpPr/>
          <p:nvPr/>
        </p:nvSpPr>
        <p:spPr>
          <a:xfrm>
            <a:off x="8092440" y="2514600"/>
            <a:ext cx="3200400" cy="36576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Key Observation</a:t>
            </a:r>
            <a:endParaRPr lang="en-US" sz="1700" dirty="0"/>
          </a:p>
        </p:txBody>
      </p:sp>
      <p:sp>
        <p:nvSpPr>
          <p:cNvPr id="8" name="Text 4"/>
          <p:cNvSpPr/>
          <p:nvPr/>
        </p:nvSpPr>
        <p:spPr>
          <a:xfrm>
            <a:off x="8092440" y="2971800"/>
            <a:ext cx="3200400" cy="1828800"/>
          </a:xfrm>
          <a:prstGeom prst="rect">
            <a:avLst/>
          </a:prstGeom>
          <a:noFill/>
          <a:ln/>
        </p:spPr>
        <p:txBody>
          <a:bodyPr wrap="square" rtlCol="0" anchor="ctr"/>
          <a:lstStyle/>
          <a:p>
            <a:pPr indent="0" marL="0">
              <a:lnSpc>
                <a:spcPct val="125000"/>
              </a:lnSpc>
              <a:buNone/>
            </a:pPr>
            <a:r>
              <a:rPr lang="en-US" sz="1250" dirty="0">
                <a:solidFill>
                  <a:srgbClr val="D6DCEA"/>
                </a:solidFill>
                <a:latin typeface="Calibri" pitchFamily="34" charset="0"/>
                <a:ea typeface="Calibri" pitchFamily="34" charset="-122"/>
                <a:cs typeface="Calibri" pitchFamily="34" charset="-120"/>
              </a:rPr>
              <a:t>Sales momentum peaked early in the year around AED 5bn per month, then eased steadily through Q2 into July, settling near AED 1.7bn. This softening points to seasonal demand cycles and warrants closer tracking heading into H2.</a:t>
            </a:r>
            <a:endParaRPr lang="en-US" sz="1250" dirty="0"/>
          </a:p>
        </p:txBody>
      </p:sp>
      <p:sp>
        <p:nvSpPr>
          <p:cNvPr id="9" name="Shape 5"/>
          <p:cNvSpPr/>
          <p:nvPr/>
        </p:nvSpPr>
        <p:spPr>
          <a:xfrm>
            <a:off x="8092440" y="5029200"/>
            <a:ext cx="3200400" cy="0"/>
          </a:xfrm>
          <a:prstGeom prst="line">
            <a:avLst/>
          </a:prstGeom>
          <a:noFill/>
          <a:ln w="12700">
            <a:solidFill>
              <a:srgbClr val="C9A227"/>
            </a:solidFill>
            <a:prstDash val="solid"/>
          </a:ln>
        </p:spPr>
      </p:sp>
      <p:sp>
        <p:nvSpPr>
          <p:cNvPr id="10" name="Text 6"/>
          <p:cNvSpPr/>
          <p:nvPr/>
        </p:nvSpPr>
        <p:spPr>
          <a:xfrm>
            <a:off x="8092440" y="5166360"/>
            <a:ext cx="1463040" cy="457200"/>
          </a:xfrm>
          <a:prstGeom prst="rect">
            <a:avLst/>
          </a:prstGeom>
          <a:noFill/>
          <a:ln/>
        </p:spPr>
        <p:txBody>
          <a:bodyPr wrap="square" rtlCol="0" anchor="ctr"/>
          <a:lstStyle/>
          <a:p>
            <a:pPr indent="0" marL="0">
              <a:buNone/>
            </a:pPr>
            <a:r>
              <a:rPr lang="en-US" sz="2400" b="1" dirty="0">
                <a:solidFill>
                  <a:srgbClr val="C9A227"/>
                </a:solidFill>
                <a:latin typeface="Cambria" pitchFamily="34" charset="0"/>
                <a:ea typeface="Cambria" pitchFamily="34" charset="-122"/>
                <a:cs typeface="Cambria" pitchFamily="34" charset="-120"/>
              </a:rPr>
              <a:t>~66%</a:t>
            </a:r>
            <a:endParaRPr lang="en-US" sz="2400" dirty="0"/>
          </a:p>
        </p:txBody>
      </p:sp>
      <p:sp>
        <p:nvSpPr>
          <p:cNvPr id="11" name="Text 7"/>
          <p:cNvSpPr/>
          <p:nvPr/>
        </p:nvSpPr>
        <p:spPr>
          <a:xfrm>
            <a:off x="9509760" y="5193792"/>
            <a:ext cx="1828800" cy="457200"/>
          </a:xfrm>
          <a:prstGeom prst="rect">
            <a:avLst/>
          </a:prstGeom>
          <a:noFill/>
          <a:ln/>
        </p:spPr>
        <p:txBody>
          <a:bodyPr wrap="square" rtlCol="0" anchor="ctr"/>
          <a:lstStyle/>
          <a:p>
            <a:pPr indent="0" marL="0">
              <a:buNone/>
            </a:pPr>
            <a:r>
              <a:rPr lang="en-US" sz="1000" dirty="0">
                <a:solidFill>
                  <a:srgbClr val="C7CEDD"/>
                </a:solidFill>
                <a:latin typeface="Calibri" pitchFamily="34" charset="0"/>
                <a:ea typeface="Calibri" pitchFamily="34" charset="-122"/>
                <a:cs typeface="Calibri" pitchFamily="34" charset="-120"/>
              </a:rPr>
              <a:t>decline from peak</a:t>
            </a:r>
            <a:endParaRPr lang="en-US" sz="1000" dirty="0"/>
          </a:p>
          <a:p>
            <a:pPr indent="0" marL="0">
              <a:buNone/>
            </a:pPr>
            <a:r>
              <a:rPr lang="en-US" sz="1000" dirty="0">
                <a:solidFill>
                  <a:srgbClr val="C7CEDD"/>
                </a:solidFill>
                <a:latin typeface="Calibri" pitchFamily="34" charset="0"/>
                <a:ea typeface="Calibri" pitchFamily="34" charset="-122"/>
                <a:cs typeface="Calibri" pitchFamily="34" charset="-120"/>
              </a:rPr>
              <a:t>to July close</a:t>
            </a:r>
            <a:endParaRPr lang="en-US" sz="1000" dirty="0"/>
          </a:p>
        </p:txBody>
      </p:sp>
      <p:sp>
        <p:nvSpPr>
          <p:cNvPr id="12" name="Text 8"/>
          <p:cNvSpPr/>
          <p:nvPr/>
        </p:nvSpPr>
        <p:spPr>
          <a:xfrm>
            <a:off x="457200" y="6446520"/>
            <a:ext cx="7315200" cy="274320"/>
          </a:xfrm>
          <a:prstGeom prst="rect">
            <a:avLst/>
          </a:prstGeom>
          <a:noFill/>
          <a:ln/>
        </p:spPr>
        <p:txBody>
          <a:bodyPr wrap="square" rtlCol="0" anchor="ctr"/>
          <a:lstStyle/>
          <a:p>
            <a:pPr indent="0" marL="0">
              <a:buNone/>
            </a:pPr>
            <a:r>
              <a:rPr lang="en-US" sz="800" spc="100" kern="0" dirty="0">
                <a:solidFill>
                  <a:srgbClr val="6B7280"/>
                </a:solidFill>
                <a:latin typeface="Calibri" pitchFamily="34" charset="0"/>
                <a:ea typeface="Calibri" pitchFamily="34" charset="-122"/>
                <a:cs typeface="Calibri" pitchFamily="34" charset="-120"/>
              </a:rPr>
              <a:t>DUBAI RESIDENTIAL MARKET ANALYSIS  |  2026</a:t>
            </a:r>
            <a:endParaRPr lang="en-US" sz="800" dirty="0"/>
          </a:p>
        </p:txBody>
      </p:sp>
      <p:sp>
        <p:nvSpPr>
          <p:cNvPr id="13" name="Text 9"/>
          <p:cNvSpPr/>
          <p:nvPr/>
        </p:nvSpPr>
        <p:spPr>
          <a:xfrm>
            <a:off x="11274552" y="6446520"/>
            <a:ext cx="457200" cy="274320"/>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54864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LOCATION INSIGHTS</a:t>
            </a:r>
            <a:endParaRPr lang="en-US" sz="1200" dirty="0"/>
          </a:p>
        </p:txBody>
      </p:sp>
      <p:sp>
        <p:nvSpPr>
          <p:cNvPr id="3" name="Text 1"/>
          <p:cNvSpPr/>
          <p:nvPr/>
        </p:nvSpPr>
        <p:spPr>
          <a:xfrm>
            <a:off x="548640" y="822960"/>
            <a:ext cx="9601200" cy="640080"/>
          </a:xfrm>
          <a:prstGeom prst="rect">
            <a:avLst/>
          </a:prstGeom>
          <a:noFill/>
          <a:ln/>
        </p:spPr>
        <p:txBody>
          <a:bodyPr wrap="square"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Top Performing Areas by Sales</a:t>
            </a:r>
            <a:endParaRPr lang="en-US" sz="3000" dirty="0"/>
          </a:p>
        </p:txBody>
      </p:sp>
      <p:sp>
        <p:nvSpPr>
          <p:cNvPr id="4" name="Text 2"/>
          <p:cNvSpPr/>
          <p:nvPr/>
        </p:nvSpPr>
        <p:spPr>
          <a:xfrm>
            <a:off x="548640" y="1417320"/>
            <a:ext cx="10789920" cy="457200"/>
          </a:xfrm>
          <a:prstGeom prst="rect">
            <a:avLst/>
          </a:prstGeom>
          <a:noFill/>
          <a:ln/>
        </p:spPr>
        <p:txBody>
          <a:bodyPr wrap="square" rtlCol="0" anchor="ctr"/>
          <a:lstStyle/>
          <a:p>
            <a:pPr indent="0" marL="0">
              <a:buNone/>
            </a:pPr>
            <a:r>
              <a:rPr lang="en-US" sz="1250" dirty="0">
                <a:solidFill>
                  <a:srgbClr val="6B7280"/>
                </a:solidFill>
                <a:latin typeface="Calibri" pitchFamily="34" charset="0"/>
                <a:ea typeface="Calibri" pitchFamily="34" charset="-122"/>
                <a:cs typeface="Calibri" pitchFamily="34" charset="-120"/>
              </a:rPr>
              <a:t>Business Bay and Burj Khalifa lead all districts, together outpacing every other area in the top 10 — a strong signal of continued demand for prime, downtown-adjacent addresses.</a:t>
            </a:r>
            <a:endParaRPr lang="en-US" sz="1250" dirty="0"/>
          </a:p>
        </p:txBody>
      </p:sp>
      <p:graphicFrame>
        <p:nvGraphicFramePr>
          <p:cNvPr id="5" name="Chart 0" descr=""/>
          <p:cNvGraphicFramePr/>
          <p:nvPr/>
        </p:nvGraphicFramePr>
        <p:xfrm>
          <a:off x="548640" y="2011680"/>
          <a:ext cx="11064240" cy="41148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800" spc="100" kern="0" dirty="0">
                <a:solidFill>
                  <a:srgbClr val="6B7280"/>
                </a:solidFill>
                <a:latin typeface="Calibri" pitchFamily="34" charset="0"/>
                <a:ea typeface="Calibri" pitchFamily="34" charset="-122"/>
                <a:cs typeface="Calibri" pitchFamily="34" charset="-120"/>
              </a:rPr>
              <a:t>DUBAI RESIDENTIAL MARKET ANALYSIS  |  2026</a:t>
            </a:r>
            <a:endParaRPr lang="en-US" sz="8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502920"/>
            <a:ext cx="54864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PRODUCT MIX</a:t>
            </a:r>
            <a:endParaRPr lang="en-US" sz="1200" dirty="0"/>
          </a:p>
        </p:txBody>
      </p:sp>
      <p:sp>
        <p:nvSpPr>
          <p:cNvPr id="3" name="Text 1"/>
          <p:cNvSpPr/>
          <p:nvPr/>
        </p:nvSpPr>
        <p:spPr>
          <a:xfrm>
            <a:off x="548640" y="822960"/>
            <a:ext cx="9601200" cy="640080"/>
          </a:xfrm>
          <a:prstGeom prst="rect">
            <a:avLst/>
          </a:prstGeom>
          <a:noFill/>
          <a:ln/>
        </p:spPr>
        <p:txBody>
          <a:bodyPr wrap="square"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Sales by Property Type</a:t>
            </a:r>
            <a:endParaRPr lang="en-US" sz="3000" dirty="0"/>
          </a:p>
        </p:txBody>
      </p:sp>
      <p:graphicFrame>
        <p:nvGraphicFramePr>
          <p:cNvPr id="4" name="Chart 0" descr=""/>
          <p:cNvGraphicFramePr/>
          <p:nvPr/>
        </p:nvGraphicFramePr>
        <p:xfrm>
          <a:off x="548640" y="1554480"/>
          <a:ext cx="6675120" cy="4389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554480"/>
            <a:ext cx="4023360" cy="4389120"/>
          </a:xfrm>
          <a:prstGeom prst="roundRect">
            <a:avLst>
              <a:gd name="adj" fmla="val 2273"/>
            </a:avLst>
          </a:prstGeom>
          <a:solidFill>
            <a:srgbClr val="FFFFFF"/>
          </a:solidFill>
          <a:ln/>
          <a:effectLst>
            <a:outerShdw sx="100000" sy="100000" kx="0" ky="0" algn="bl" rotWithShape="0" blurRad="101600" dist="38100" dir="5400000">
              <a:srgbClr val="1A1A1A">
                <a:alpha val="10000"/>
              </a:srgbClr>
            </a:outerShdw>
          </a:effectLst>
        </p:spPr>
      </p:sp>
      <p:sp>
        <p:nvSpPr>
          <p:cNvPr id="6" name="Shape 3"/>
          <p:cNvSpPr/>
          <p:nvPr/>
        </p:nvSpPr>
        <p:spPr>
          <a:xfrm>
            <a:off x="7909560" y="1920240"/>
            <a:ext cx="640080" cy="640080"/>
          </a:xfrm>
          <a:prstGeom prst="oval">
            <a:avLst/>
          </a:prstGeom>
          <a:solidFill>
            <a:srgbClr val="0B1F3A"/>
          </a:solidFill>
          <a:ln/>
        </p:spPr>
      </p:sp>
      <p:pic>
        <p:nvPicPr>
          <p:cNvPr id="7" name="Image 0" descr="/home/claude/dubai_deck/icons/home.png">    </p:cNvPr>
          <p:cNvPicPr>
            <a:picLocks noChangeAspect="1"/>
          </p:cNvPicPr>
          <p:nvPr/>
        </p:nvPicPr>
        <p:blipFill>
          <a:blip r:embed="rId2"/>
          <a:stretch>
            <a:fillRect/>
          </a:stretch>
        </p:blipFill>
        <p:spPr>
          <a:xfrm>
            <a:off x="8065008" y="2075688"/>
            <a:ext cx="329184" cy="329184"/>
          </a:xfrm>
          <a:prstGeom prst="rect">
            <a:avLst/>
          </a:prstGeom>
        </p:spPr>
      </p:pic>
      <p:sp>
        <p:nvSpPr>
          <p:cNvPr id="8" name="Text 4"/>
          <p:cNvSpPr/>
          <p:nvPr/>
        </p:nvSpPr>
        <p:spPr>
          <a:xfrm>
            <a:off x="7909560" y="2697480"/>
            <a:ext cx="3383280" cy="548640"/>
          </a:xfrm>
          <a:prstGeom prst="rect">
            <a:avLst/>
          </a:prstGeom>
          <a:noFill/>
          <a:ln/>
        </p:spPr>
        <p:txBody>
          <a:bodyPr wrap="square" rtlCol="0" anchor="ctr"/>
          <a:lstStyle/>
          <a:p>
            <a:pPr indent="0" marL="0">
              <a:buNone/>
            </a:pPr>
            <a:r>
              <a:rPr lang="en-US" sz="1700" b="1" dirty="0">
                <a:solidFill>
                  <a:srgbClr val="0B1F3A"/>
                </a:solidFill>
                <a:latin typeface="Cambria" pitchFamily="34" charset="0"/>
                <a:ea typeface="Cambria" pitchFamily="34" charset="-122"/>
                <a:cs typeface="Cambria" pitchFamily="34" charset="-120"/>
              </a:rPr>
              <a:t>Flats Dominate the Market</a:t>
            </a:r>
            <a:endParaRPr lang="en-US" sz="1700" dirty="0"/>
          </a:p>
        </p:txBody>
      </p:sp>
      <p:sp>
        <p:nvSpPr>
          <p:cNvPr id="9" name="Text 5"/>
          <p:cNvSpPr/>
          <p:nvPr/>
        </p:nvSpPr>
        <p:spPr>
          <a:xfrm>
            <a:off x="7909560" y="3291840"/>
            <a:ext cx="3383280" cy="2377440"/>
          </a:xfrm>
          <a:prstGeom prst="rect">
            <a:avLst/>
          </a:prstGeom>
          <a:noFill/>
          <a:ln/>
        </p:spPr>
        <p:txBody>
          <a:bodyPr wrap="square" rtlCol="0" anchor="ctr"/>
          <a:lstStyle/>
          <a:p>
            <a:pPr indent="0" marL="0">
              <a:lnSpc>
                <a:spcPct val="130000"/>
              </a:lnSpc>
              <a:buNone/>
            </a:pPr>
            <a:r>
              <a:rPr lang="en-US" sz="1200" dirty="0">
                <a:solidFill>
                  <a:srgbClr val="6B7280"/>
                </a:solidFill>
                <a:latin typeface="Calibri" pitchFamily="34" charset="0"/>
                <a:ea typeface="Calibri" pitchFamily="34" charset="-122"/>
                <a:cs typeface="Calibri" pitchFamily="34" charset="-120"/>
              </a:rPr>
              <a:t>Apartments (“Flats”) account for the overwhelming majority of residential sales value — well above 90% of total volume. Commercial-adjacent categories (offices, hotel apartments, shops, showrooms) make up a small but notable share of the remaining transactions.</a:t>
            </a:r>
            <a:endParaRPr lang="en-US" sz="1200" dirty="0"/>
          </a:p>
        </p:txBody>
      </p:sp>
      <p:sp>
        <p:nvSpPr>
          <p:cNvPr id="10" name="Text 6"/>
          <p:cNvSpPr/>
          <p:nvPr/>
        </p:nvSpPr>
        <p:spPr>
          <a:xfrm>
            <a:off x="457200" y="6446520"/>
            <a:ext cx="7315200" cy="274320"/>
          </a:xfrm>
          <a:prstGeom prst="rect">
            <a:avLst/>
          </a:prstGeom>
          <a:noFill/>
          <a:ln/>
        </p:spPr>
        <p:txBody>
          <a:bodyPr wrap="square" rtlCol="0" anchor="ctr"/>
          <a:lstStyle/>
          <a:p>
            <a:pPr indent="0" marL="0">
              <a:buNone/>
            </a:pPr>
            <a:r>
              <a:rPr lang="en-US" sz="800" spc="100" kern="0" dirty="0">
                <a:solidFill>
                  <a:srgbClr val="6B7280"/>
                </a:solidFill>
                <a:latin typeface="Calibri" pitchFamily="34" charset="0"/>
                <a:ea typeface="Calibri" pitchFamily="34" charset="-122"/>
                <a:cs typeface="Calibri" pitchFamily="34" charset="-120"/>
              </a:rPr>
              <a:t>DUBAI RESIDENTIAL MARKET ANALYSIS  |  2026</a:t>
            </a:r>
            <a:endParaRPr lang="en-US" sz="800" dirty="0"/>
          </a:p>
        </p:txBody>
      </p:sp>
      <p:sp>
        <p:nvSpPr>
          <p:cNvPr id="11" name="Text 7"/>
          <p:cNvSpPr/>
          <p:nvPr/>
        </p:nvSpPr>
        <p:spPr>
          <a:xfrm>
            <a:off x="11274552" y="6446520"/>
            <a:ext cx="457200" cy="274320"/>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54864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PRODUCT MIX</a:t>
            </a:r>
            <a:endParaRPr lang="en-US" sz="1200" dirty="0"/>
          </a:p>
        </p:txBody>
      </p:sp>
      <p:sp>
        <p:nvSpPr>
          <p:cNvPr id="3" name="Text 1"/>
          <p:cNvSpPr/>
          <p:nvPr/>
        </p:nvSpPr>
        <p:spPr>
          <a:xfrm>
            <a:off x="548640" y="822960"/>
            <a:ext cx="9601200" cy="640080"/>
          </a:xfrm>
          <a:prstGeom prst="rect">
            <a:avLst/>
          </a:prstGeom>
          <a:noFill/>
          <a:ln/>
        </p:spPr>
        <p:txBody>
          <a:bodyPr wrap="square"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Sales by Room Configuration</a:t>
            </a:r>
            <a:endParaRPr lang="en-US" sz="3000" dirty="0"/>
          </a:p>
        </p:txBody>
      </p:sp>
      <p:sp>
        <p:nvSpPr>
          <p:cNvPr id="4" name="Text 2"/>
          <p:cNvSpPr/>
          <p:nvPr/>
        </p:nvSpPr>
        <p:spPr>
          <a:xfrm>
            <a:off x="548640" y="1417320"/>
            <a:ext cx="10789920" cy="457200"/>
          </a:xfrm>
          <a:prstGeom prst="rect">
            <a:avLst/>
          </a:prstGeom>
          <a:noFill/>
          <a:ln/>
        </p:spPr>
        <p:txBody>
          <a:bodyPr wrap="square" rtlCol="0" anchor="ctr"/>
          <a:lstStyle/>
          <a:p>
            <a:pPr indent="0" marL="0">
              <a:buNone/>
            </a:pPr>
            <a:r>
              <a:rPr lang="en-US" sz="1250" dirty="0">
                <a:solidFill>
                  <a:srgbClr val="6B7280"/>
                </a:solidFill>
                <a:latin typeface="Calibri" pitchFamily="34" charset="0"/>
                <a:ea typeface="Calibri" pitchFamily="34" charset="-122"/>
                <a:cs typeface="Calibri" pitchFamily="34" charset="-120"/>
              </a:rPr>
              <a:t>2-Bedroom and 1-Bedroom units capture the largest share of sales, together forming the backbone of buyer demand across the residential market.</a:t>
            </a:r>
            <a:endParaRPr lang="en-US" sz="1250" dirty="0"/>
          </a:p>
        </p:txBody>
      </p:sp>
      <p:graphicFrame>
        <p:nvGraphicFramePr>
          <p:cNvPr id="5" name="Chart 0" descr=""/>
          <p:cNvGraphicFramePr/>
          <p:nvPr/>
        </p:nvGraphicFramePr>
        <p:xfrm>
          <a:off x="548640" y="2011680"/>
          <a:ext cx="11064240" cy="41148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800" spc="100" kern="0" dirty="0">
                <a:solidFill>
                  <a:srgbClr val="6B7280"/>
                </a:solidFill>
                <a:latin typeface="Calibri" pitchFamily="34" charset="0"/>
                <a:ea typeface="Calibri" pitchFamily="34" charset="-122"/>
                <a:cs typeface="Calibri" pitchFamily="34" charset="-120"/>
              </a:rPr>
              <a:t>DUBAI RESIDENTIAL MARKET ANALYSIS  |  2026</a:t>
            </a:r>
            <a:endParaRPr lang="en-US" sz="8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502920"/>
            <a:ext cx="54864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BUYER SEGMENTATION</a:t>
            </a:r>
            <a:endParaRPr lang="en-US" sz="1200" dirty="0"/>
          </a:p>
        </p:txBody>
      </p:sp>
      <p:sp>
        <p:nvSpPr>
          <p:cNvPr id="3" name="Text 1"/>
          <p:cNvSpPr/>
          <p:nvPr/>
        </p:nvSpPr>
        <p:spPr>
          <a:xfrm>
            <a:off x="548640" y="822960"/>
            <a:ext cx="9601200" cy="640080"/>
          </a:xfrm>
          <a:prstGeom prst="rect">
            <a:avLst/>
          </a:prstGeom>
          <a:noFill/>
          <a:ln/>
        </p:spPr>
        <p:txBody>
          <a:bodyPr wrap="square"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Sales by Value Band</a:t>
            </a:r>
            <a:endParaRPr lang="en-US" sz="3000" dirty="0"/>
          </a:p>
        </p:txBody>
      </p:sp>
      <p:graphicFrame>
        <p:nvGraphicFramePr>
          <p:cNvPr id="4" name="Chart 0" descr=""/>
          <p:cNvGraphicFramePr/>
          <p:nvPr/>
        </p:nvGraphicFramePr>
        <p:xfrm>
          <a:off x="822960" y="173736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309360" y="1783080"/>
            <a:ext cx="5303520" cy="795528"/>
          </a:xfrm>
          <a:prstGeom prst="roundRect">
            <a:avLst>
              <a:gd name="adj" fmla="val 6897"/>
            </a:avLst>
          </a:prstGeom>
          <a:solidFill>
            <a:srgbClr val="FFFFFF"/>
          </a:solidFill>
          <a:ln/>
          <a:effectLst>
            <a:outerShdw sx="100000" sy="100000" kx="0" ky="0" algn="bl" rotWithShape="0" blurRad="76200" dist="25400" dir="5400000">
              <a:srgbClr val="1A1A1A">
                <a:alpha val="8000"/>
              </a:srgbClr>
            </a:outerShdw>
          </a:effectLst>
        </p:spPr>
      </p:sp>
      <p:sp>
        <p:nvSpPr>
          <p:cNvPr id="6" name="Shape 3"/>
          <p:cNvSpPr/>
          <p:nvPr/>
        </p:nvSpPr>
        <p:spPr>
          <a:xfrm>
            <a:off x="6309360" y="1783080"/>
            <a:ext cx="109728" cy="795528"/>
          </a:xfrm>
          <a:prstGeom prst="rect">
            <a:avLst/>
          </a:prstGeom>
          <a:solidFill>
            <a:srgbClr val="C9A227"/>
          </a:solidFill>
          <a:ln/>
        </p:spPr>
      </p:sp>
      <p:sp>
        <p:nvSpPr>
          <p:cNvPr id="7" name="Text 4"/>
          <p:cNvSpPr/>
          <p:nvPr/>
        </p:nvSpPr>
        <p:spPr>
          <a:xfrm>
            <a:off x="6629400" y="1856232"/>
            <a:ext cx="2743200" cy="365760"/>
          </a:xfrm>
          <a:prstGeom prst="rect">
            <a:avLst/>
          </a:prstGeom>
          <a:noFill/>
          <a:ln/>
        </p:spPr>
        <p:txBody>
          <a:bodyPr wrap="square"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Mid-Market</a:t>
            </a:r>
            <a:endParaRPr lang="en-US" sz="1500" dirty="0"/>
          </a:p>
        </p:txBody>
      </p:sp>
      <p:sp>
        <p:nvSpPr>
          <p:cNvPr id="8" name="Text 5"/>
          <p:cNvSpPr/>
          <p:nvPr/>
        </p:nvSpPr>
        <p:spPr>
          <a:xfrm>
            <a:off x="6629400" y="2194560"/>
            <a:ext cx="2743200" cy="320040"/>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42.37% of total sales</a:t>
            </a:r>
            <a:endParaRPr lang="en-US" sz="1050" dirty="0"/>
          </a:p>
        </p:txBody>
      </p:sp>
      <p:sp>
        <p:nvSpPr>
          <p:cNvPr id="9" name="Text 6"/>
          <p:cNvSpPr/>
          <p:nvPr/>
        </p:nvSpPr>
        <p:spPr>
          <a:xfrm>
            <a:off x="9875520" y="1892808"/>
            <a:ext cx="1554480" cy="548640"/>
          </a:xfrm>
          <a:prstGeom prst="rect">
            <a:avLst/>
          </a:prstGeom>
          <a:noFill/>
          <a:ln/>
        </p:spPr>
        <p:txBody>
          <a:bodyPr wrap="square" rtlCol="0" anchor="ctr"/>
          <a:lstStyle/>
          <a:p>
            <a:pPr algn="r" indent="0" marL="0">
              <a:buNone/>
            </a:pPr>
            <a:r>
              <a:rPr lang="en-US" sz="2000" b="1" dirty="0">
                <a:solidFill>
                  <a:srgbClr val="C9A227"/>
                </a:solidFill>
                <a:latin typeface="Cambria" pitchFamily="34" charset="0"/>
                <a:ea typeface="Cambria" pitchFamily="34" charset="-122"/>
                <a:cs typeface="Cambria" pitchFamily="34" charset="-120"/>
              </a:rPr>
              <a:t>9.24bn</a:t>
            </a:r>
            <a:endParaRPr lang="en-US" sz="2000" dirty="0"/>
          </a:p>
        </p:txBody>
      </p:sp>
      <p:sp>
        <p:nvSpPr>
          <p:cNvPr id="10" name="Shape 7"/>
          <p:cNvSpPr/>
          <p:nvPr/>
        </p:nvSpPr>
        <p:spPr>
          <a:xfrm>
            <a:off x="6309360" y="2743200"/>
            <a:ext cx="5303520" cy="795528"/>
          </a:xfrm>
          <a:prstGeom prst="roundRect">
            <a:avLst>
              <a:gd name="adj" fmla="val 6897"/>
            </a:avLst>
          </a:prstGeom>
          <a:solidFill>
            <a:srgbClr val="FFFFFF"/>
          </a:solidFill>
          <a:ln/>
          <a:effectLst>
            <a:outerShdw sx="100000" sy="100000" kx="0" ky="0" algn="bl" rotWithShape="0" blurRad="76200" dist="25400" dir="5400000">
              <a:srgbClr val="1A1A1A">
                <a:alpha val="8000"/>
              </a:srgbClr>
            </a:outerShdw>
          </a:effectLst>
        </p:spPr>
      </p:sp>
      <p:sp>
        <p:nvSpPr>
          <p:cNvPr id="11" name="Shape 8"/>
          <p:cNvSpPr/>
          <p:nvPr/>
        </p:nvSpPr>
        <p:spPr>
          <a:xfrm>
            <a:off x="6309360" y="2743200"/>
            <a:ext cx="109728" cy="795528"/>
          </a:xfrm>
          <a:prstGeom prst="rect">
            <a:avLst/>
          </a:prstGeom>
          <a:solidFill>
            <a:srgbClr val="0B1F3A"/>
          </a:solidFill>
          <a:ln/>
        </p:spPr>
      </p:sp>
      <p:sp>
        <p:nvSpPr>
          <p:cNvPr id="12" name="Text 9"/>
          <p:cNvSpPr/>
          <p:nvPr/>
        </p:nvSpPr>
        <p:spPr>
          <a:xfrm>
            <a:off x="6629400" y="2816352"/>
            <a:ext cx="2743200" cy="365760"/>
          </a:xfrm>
          <a:prstGeom prst="rect">
            <a:avLst/>
          </a:prstGeom>
          <a:noFill/>
          <a:ln/>
        </p:spPr>
        <p:txBody>
          <a:bodyPr wrap="square"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High-End</a:t>
            </a:r>
            <a:endParaRPr lang="en-US" sz="1500" dirty="0"/>
          </a:p>
        </p:txBody>
      </p:sp>
      <p:sp>
        <p:nvSpPr>
          <p:cNvPr id="13" name="Text 10"/>
          <p:cNvSpPr/>
          <p:nvPr/>
        </p:nvSpPr>
        <p:spPr>
          <a:xfrm>
            <a:off x="6629400" y="3154680"/>
            <a:ext cx="2743200" cy="320040"/>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35.58% of total sales</a:t>
            </a:r>
            <a:endParaRPr lang="en-US" sz="1050" dirty="0"/>
          </a:p>
        </p:txBody>
      </p:sp>
      <p:sp>
        <p:nvSpPr>
          <p:cNvPr id="14" name="Text 11"/>
          <p:cNvSpPr/>
          <p:nvPr/>
        </p:nvSpPr>
        <p:spPr>
          <a:xfrm>
            <a:off x="9875520" y="2852928"/>
            <a:ext cx="1554480" cy="548640"/>
          </a:xfrm>
          <a:prstGeom prst="rect">
            <a:avLst/>
          </a:prstGeom>
          <a:noFill/>
          <a:ln/>
        </p:spPr>
        <p:txBody>
          <a:bodyPr wrap="square" rtlCol="0" anchor="ctr"/>
          <a:lstStyle/>
          <a:p>
            <a:pPr algn="r" indent="0" marL="0">
              <a:buNone/>
            </a:pPr>
            <a:r>
              <a:rPr lang="en-US" sz="2000" b="1" dirty="0">
                <a:solidFill>
                  <a:srgbClr val="0B1F3A"/>
                </a:solidFill>
                <a:latin typeface="Cambria" pitchFamily="34" charset="0"/>
                <a:ea typeface="Cambria" pitchFamily="34" charset="-122"/>
                <a:cs typeface="Cambria" pitchFamily="34" charset="-120"/>
              </a:rPr>
              <a:t>7.76bn</a:t>
            </a:r>
            <a:endParaRPr lang="en-US" sz="2000" dirty="0"/>
          </a:p>
        </p:txBody>
      </p:sp>
      <p:sp>
        <p:nvSpPr>
          <p:cNvPr id="15" name="Shape 12"/>
          <p:cNvSpPr/>
          <p:nvPr/>
        </p:nvSpPr>
        <p:spPr>
          <a:xfrm>
            <a:off x="6309360" y="3703320"/>
            <a:ext cx="5303520" cy="795528"/>
          </a:xfrm>
          <a:prstGeom prst="roundRect">
            <a:avLst>
              <a:gd name="adj" fmla="val 6897"/>
            </a:avLst>
          </a:prstGeom>
          <a:solidFill>
            <a:srgbClr val="FFFFFF"/>
          </a:solidFill>
          <a:ln/>
          <a:effectLst>
            <a:outerShdw sx="100000" sy="100000" kx="0" ky="0" algn="bl" rotWithShape="0" blurRad="76200" dist="25400" dir="5400000">
              <a:srgbClr val="1A1A1A">
                <a:alpha val="8000"/>
              </a:srgbClr>
            </a:outerShdw>
          </a:effectLst>
        </p:spPr>
      </p:sp>
      <p:sp>
        <p:nvSpPr>
          <p:cNvPr id="16" name="Shape 13"/>
          <p:cNvSpPr/>
          <p:nvPr/>
        </p:nvSpPr>
        <p:spPr>
          <a:xfrm>
            <a:off x="6309360" y="3703320"/>
            <a:ext cx="109728" cy="795528"/>
          </a:xfrm>
          <a:prstGeom prst="rect">
            <a:avLst/>
          </a:prstGeom>
          <a:solidFill>
            <a:srgbClr val="6C87AD"/>
          </a:solidFill>
          <a:ln/>
        </p:spPr>
      </p:sp>
      <p:sp>
        <p:nvSpPr>
          <p:cNvPr id="17" name="Text 14"/>
          <p:cNvSpPr/>
          <p:nvPr/>
        </p:nvSpPr>
        <p:spPr>
          <a:xfrm>
            <a:off x="6629400" y="3776472"/>
            <a:ext cx="2743200" cy="365760"/>
          </a:xfrm>
          <a:prstGeom prst="rect">
            <a:avLst/>
          </a:prstGeom>
          <a:noFill/>
          <a:ln/>
        </p:spPr>
        <p:txBody>
          <a:bodyPr wrap="square"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Entry</a:t>
            </a:r>
            <a:endParaRPr lang="en-US" sz="1500" dirty="0"/>
          </a:p>
        </p:txBody>
      </p:sp>
      <p:sp>
        <p:nvSpPr>
          <p:cNvPr id="18" name="Text 15"/>
          <p:cNvSpPr/>
          <p:nvPr/>
        </p:nvSpPr>
        <p:spPr>
          <a:xfrm>
            <a:off x="6629400" y="4114800"/>
            <a:ext cx="2743200" cy="320040"/>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18.93% of total sales</a:t>
            </a:r>
            <a:endParaRPr lang="en-US" sz="1050" dirty="0"/>
          </a:p>
        </p:txBody>
      </p:sp>
      <p:sp>
        <p:nvSpPr>
          <p:cNvPr id="19" name="Text 16"/>
          <p:cNvSpPr/>
          <p:nvPr/>
        </p:nvSpPr>
        <p:spPr>
          <a:xfrm>
            <a:off x="9875520" y="3813048"/>
            <a:ext cx="1554480" cy="548640"/>
          </a:xfrm>
          <a:prstGeom prst="rect">
            <a:avLst/>
          </a:prstGeom>
          <a:noFill/>
          <a:ln/>
        </p:spPr>
        <p:txBody>
          <a:bodyPr wrap="square" rtlCol="0" anchor="ctr"/>
          <a:lstStyle/>
          <a:p>
            <a:pPr algn="r" indent="0" marL="0">
              <a:buNone/>
            </a:pPr>
            <a:r>
              <a:rPr lang="en-US" sz="2000" b="1" dirty="0">
                <a:solidFill>
                  <a:srgbClr val="6C87AD"/>
                </a:solidFill>
                <a:latin typeface="Cambria" pitchFamily="34" charset="0"/>
                <a:ea typeface="Cambria" pitchFamily="34" charset="-122"/>
                <a:cs typeface="Cambria" pitchFamily="34" charset="-120"/>
              </a:rPr>
              <a:t>4.13bn</a:t>
            </a:r>
            <a:endParaRPr lang="en-US" sz="2000" dirty="0"/>
          </a:p>
        </p:txBody>
      </p:sp>
      <p:sp>
        <p:nvSpPr>
          <p:cNvPr id="20" name="Shape 17"/>
          <p:cNvSpPr/>
          <p:nvPr/>
        </p:nvSpPr>
        <p:spPr>
          <a:xfrm>
            <a:off x="6309360" y="4663440"/>
            <a:ext cx="5303520" cy="795528"/>
          </a:xfrm>
          <a:prstGeom prst="roundRect">
            <a:avLst>
              <a:gd name="adj" fmla="val 6897"/>
            </a:avLst>
          </a:prstGeom>
          <a:solidFill>
            <a:srgbClr val="FFFFFF"/>
          </a:solidFill>
          <a:ln/>
          <a:effectLst>
            <a:outerShdw sx="100000" sy="100000" kx="0" ky="0" algn="bl" rotWithShape="0" blurRad="76200" dist="25400" dir="5400000">
              <a:srgbClr val="1A1A1A">
                <a:alpha val="8000"/>
              </a:srgbClr>
            </a:outerShdw>
          </a:effectLst>
        </p:spPr>
      </p:sp>
      <p:sp>
        <p:nvSpPr>
          <p:cNvPr id="21" name="Shape 18"/>
          <p:cNvSpPr/>
          <p:nvPr/>
        </p:nvSpPr>
        <p:spPr>
          <a:xfrm>
            <a:off x="6309360" y="4663440"/>
            <a:ext cx="109728" cy="795528"/>
          </a:xfrm>
          <a:prstGeom prst="rect">
            <a:avLst/>
          </a:prstGeom>
          <a:solidFill>
            <a:srgbClr val="8A6D1E"/>
          </a:solidFill>
          <a:ln/>
        </p:spPr>
      </p:sp>
      <p:sp>
        <p:nvSpPr>
          <p:cNvPr id="22" name="Text 19"/>
          <p:cNvSpPr/>
          <p:nvPr/>
        </p:nvSpPr>
        <p:spPr>
          <a:xfrm>
            <a:off x="6629400" y="4736592"/>
            <a:ext cx="2743200" cy="365760"/>
          </a:xfrm>
          <a:prstGeom prst="rect">
            <a:avLst/>
          </a:prstGeom>
          <a:noFill/>
          <a:ln/>
        </p:spPr>
        <p:txBody>
          <a:bodyPr wrap="square"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Ultra-Premium</a:t>
            </a:r>
            <a:endParaRPr lang="en-US" sz="1500" dirty="0"/>
          </a:p>
        </p:txBody>
      </p:sp>
      <p:sp>
        <p:nvSpPr>
          <p:cNvPr id="23" name="Text 20"/>
          <p:cNvSpPr/>
          <p:nvPr/>
        </p:nvSpPr>
        <p:spPr>
          <a:xfrm>
            <a:off x="6629400" y="5074920"/>
            <a:ext cx="2743200" cy="320040"/>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3.12% of total sales</a:t>
            </a:r>
            <a:endParaRPr lang="en-US" sz="1050" dirty="0"/>
          </a:p>
        </p:txBody>
      </p:sp>
      <p:sp>
        <p:nvSpPr>
          <p:cNvPr id="24" name="Text 21"/>
          <p:cNvSpPr/>
          <p:nvPr/>
        </p:nvSpPr>
        <p:spPr>
          <a:xfrm>
            <a:off x="9875520" y="4773168"/>
            <a:ext cx="1554480" cy="548640"/>
          </a:xfrm>
          <a:prstGeom prst="rect">
            <a:avLst/>
          </a:prstGeom>
          <a:noFill/>
          <a:ln/>
        </p:spPr>
        <p:txBody>
          <a:bodyPr wrap="square" rtlCol="0" anchor="ctr"/>
          <a:lstStyle/>
          <a:p>
            <a:pPr algn="r" indent="0" marL="0">
              <a:buNone/>
            </a:pPr>
            <a:r>
              <a:rPr lang="en-US" sz="2000" b="1" dirty="0">
                <a:solidFill>
                  <a:srgbClr val="8A6D1E"/>
                </a:solidFill>
                <a:latin typeface="Cambria" pitchFamily="34" charset="0"/>
                <a:ea typeface="Cambria" pitchFamily="34" charset="-122"/>
                <a:cs typeface="Cambria" pitchFamily="34" charset="-120"/>
              </a:rPr>
              <a:t>0.69bn</a:t>
            </a:r>
            <a:endParaRPr lang="en-US" sz="2000" dirty="0"/>
          </a:p>
        </p:txBody>
      </p:sp>
      <p:sp>
        <p:nvSpPr>
          <p:cNvPr id="25" name="Text 22"/>
          <p:cNvSpPr/>
          <p:nvPr/>
        </p:nvSpPr>
        <p:spPr>
          <a:xfrm>
            <a:off x="457200" y="6446520"/>
            <a:ext cx="7315200" cy="274320"/>
          </a:xfrm>
          <a:prstGeom prst="rect">
            <a:avLst/>
          </a:prstGeom>
          <a:noFill/>
          <a:ln/>
        </p:spPr>
        <p:txBody>
          <a:bodyPr wrap="square" rtlCol="0" anchor="ctr"/>
          <a:lstStyle/>
          <a:p>
            <a:pPr indent="0" marL="0">
              <a:buNone/>
            </a:pPr>
            <a:r>
              <a:rPr lang="en-US" sz="800" spc="100" kern="0" dirty="0">
                <a:solidFill>
                  <a:srgbClr val="6B7280"/>
                </a:solidFill>
                <a:latin typeface="Calibri" pitchFamily="34" charset="0"/>
                <a:ea typeface="Calibri" pitchFamily="34" charset="-122"/>
                <a:cs typeface="Calibri" pitchFamily="34" charset="-120"/>
              </a:rPr>
              <a:t>DUBAI RESIDENTIAL MARKET ANALYSIS  |  2026</a:t>
            </a:r>
            <a:endParaRPr lang="en-US" sz="800" dirty="0"/>
          </a:p>
        </p:txBody>
      </p:sp>
      <p:sp>
        <p:nvSpPr>
          <p:cNvPr id="26" name="Text 23"/>
          <p:cNvSpPr/>
          <p:nvPr/>
        </p:nvSpPr>
        <p:spPr>
          <a:xfrm>
            <a:off x="11274552" y="6446520"/>
            <a:ext cx="457200" cy="274320"/>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502920"/>
            <a:ext cx="54864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GEOGRAPHIC FOOTPRINT</a:t>
            </a:r>
            <a:endParaRPr lang="en-US" sz="1200" dirty="0"/>
          </a:p>
        </p:txBody>
      </p:sp>
      <p:sp>
        <p:nvSpPr>
          <p:cNvPr id="3" name="Text 1"/>
          <p:cNvSpPr/>
          <p:nvPr/>
        </p:nvSpPr>
        <p:spPr>
          <a:xfrm>
            <a:off x="548640" y="822960"/>
            <a:ext cx="96012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Sales Distributed Across Key Districts</a:t>
            </a:r>
            <a:endParaRPr lang="en-US" sz="3000" dirty="0"/>
          </a:p>
        </p:txBody>
      </p:sp>
      <p:sp>
        <p:nvSpPr>
          <p:cNvPr id="4" name="Text 2"/>
          <p:cNvSpPr/>
          <p:nvPr/>
        </p:nvSpPr>
        <p:spPr>
          <a:xfrm>
            <a:off x="548640" y="1463040"/>
            <a:ext cx="7772400" cy="548640"/>
          </a:xfrm>
          <a:prstGeom prst="rect">
            <a:avLst/>
          </a:prstGeom>
          <a:noFill/>
          <a:ln/>
        </p:spPr>
        <p:txBody>
          <a:bodyPr wrap="square" rtlCol="0" anchor="ctr"/>
          <a:lstStyle/>
          <a:p>
            <a:pPr indent="0" marL="0">
              <a:buNone/>
            </a:pPr>
            <a:r>
              <a:rPr lang="en-US" sz="1300" dirty="0">
                <a:solidFill>
                  <a:srgbClr val="C7CEDD"/>
                </a:solidFill>
                <a:latin typeface="Calibri" pitchFamily="34" charset="0"/>
                <a:ea typeface="Calibri" pitchFamily="34" charset="-122"/>
                <a:cs typeface="Calibri" pitchFamily="34" charset="-120"/>
              </a:rPr>
              <a:t>Transaction activity spans Dubai's established and emerging communities, with concentration around downtown, waterfront, and master-planned developments.</a:t>
            </a:r>
            <a:endParaRPr lang="en-US" sz="1300" dirty="0"/>
          </a:p>
        </p:txBody>
      </p:sp>
      <p:pic>
        <p:nvPicPr>
          <p:cNvPr id="5" name="Image 0" descr="/home/claude/dubai_deck/icons/pin.png">    </p:cNvPr>
          <p:cNvPicPr>
            <a:picLocks noChangeAspect="1"/>
          </p:cNvPicPr>
          <p:nvPr/>
        </p:nvPicPr>
        <p:blipFill>
          <a:blip r:embed="rId1"/>
          <a:stretch>
            <a:fillRect/>
          </a:stretch>
        </p:blipFill>
        <p:spPr>
          <a:xfrm>
            <a:off x="548640" y="2331720"/>
            <a:ext cx="256032" cy="256032"/>
          </a:xfrm>
          <a:prstGeom prst="rect">
            <a:avLst/>
          </a:prstGeom>
        </p:spPr>
      </p:pic>
      <p:sp>
        <p:nvSpPr>
          <p:cNvPr id="6" name="Text 3"/>
          <p:cNvSpPr/>
          <p:nvPr/>
        </p:nvSpPr>
        <p:spPr>
          <a:xfrm>
            <a:off x="960120" y="2286000"/>
            <a:ext cx="3063240" cy="4572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Al Barsha South</a:t>
            </a:r>
            <a:endParaRPr lang="en-US" sz="1400" dirty="0"/>
          </a:p>
        </p:txBody>
      </p:sp>
      <p:pic>
        <p:nvPicPr>
          <p:cNvPr id="7" name="Image 1" descr="/home/claude/dubai_deck/icons/pin.png">    </p:cNvPr>
          <p:cNvPicPr>
            <a:picLocks noChangeAspect="1"/>
          </p:cNvPicPr>
          <p:nvPr/>
        </p:nvPicPr>
        <p:blipFill>
          <a:blip r:embed="rId2"/>
          <a:stretch>
            <a:fillRect/>
          </a:stretch>
        </p:blipFill>
        <p:spPr>
          <a:xfrm>
            <a:off x="548640" y="2898648"/>
            <a:ext cx="256032" cy="256032"/>
          </a:xfrm>
          <a:prstGeom prst="rect">
            <a:avLst/>
          </a:prstGeom>
        </p:spPr>
      </p:pic>
      <p:sp>
        <p:nvSpPr>
          <p:cNvPr id="8" name="Text 4"/>
          <p:cNvSpPr/>
          <p:nvPr/>
        </p:nvSpPr>
        <p:spPr>
          <a:xfrm>
            <a:off x="960120" y="2852928"/>
            <a:ext cx="3063240" cy="4572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Al Furjan</a:t>
            </a:r>
            <a:endParaRPr lang="en-US" sz="1400" dirty="0"/>
          </a:p>
        </p:txBody>
      </p:sp>
      <p:pic>
        <p:nvPicPr>
          <p:cNvPr id="9" name="Image 2" descr="/home/claude/dubai_deck/icons/pin.png">    </p:cNvPr>
          <p:cNvPicPr>
            <a:picLocks noChangeAspect="1"/>
          </p:cNvPicPr>
          <p:nvPr/>
        </p:nvPicPr>
        <p:blipFill>
          <a:blip r:embed="rId3"/>
          <a:stretch>
            <a:fillRect/>
          </a:stretch>
        </p:blipFill>
        <p:spPr>
          <a:xfrm>
            <a:off x="548640" y="3465576"/>
            <a:ext cx="256032" cy="256032"/>
          </a:xfrm>
          <a:prstGeom prst="rect">
            <a:avLst/>
          </a:prstGeom>
        </p:spPr>
      </p:pic>
      <p:sp>
        <p:nvSpPr>
          <p:cNvPr id="10" name="Text 5"/>
          <p:cNvSpPr/>
          <p:nvPr/>
        </p:nvSpPr>
        <p:spPr>
          <a:xfrm>
            <a:off x="960120" y="3419856"/>
            <a:ext cx="3063240" cy="4572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Al Khail Heights</a:t>
            </a:r>
            <a:endParaRPr lang="en-US" sz="1400" dirty="0"/>
          </a:p>
        </p:txBody>
      </p:sp>
      <p:pic>
        <p:nvPicPr>
          <p:cNvPr id="11" name="Image 3" descr="/home/claude/dubai_deck/icons/pin.png">    </p:cNvPr>
          <p:cNvPicPr>
            <a:picLocks noChangeAspect="1"/>
          </p:cNvPicPr>
          <p:nvPr/>
        </p:nvPicPr>
        <p:blipFill>
          <a:blip r:embed="rId4"/>
          <a:stretch>
            <a:fillRect/>
          </a:stretch>
        </p:blipFill>
        <p:spPr>
          <a:xfrm>
            <a:off x="548640" y="4032504"/>
            <a:ext cx="256032" cy="256032"/>
          </a:xfrm>
          <a:prstGeom prst="rect">
            <a:avLst/>
          </a:prstGeom>
        </p:spPr>
      </p:pic>
      <p:sp>
        <p:nvSpPr>
          <p:cNvPr id="12" name="Text 6"/>
          <p:cNvSpPr/>
          <p:nvPr/>
        </p:nvSpPr>
        <p:spPr>
          <a:xfrm>
            <a:off x="960120" y="3986784"/>
            <a:ext cx="3063240" cy="4572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Business Bay</a:t>
            </a:r>
            <a:endParaRPr lang="en-US" sz="1400" dirty="0"/>
          </a:p>
        </p:txBody>
      </p:sp>
      <p:pic>
        <p:nvPicPr>
          <p:cNvPr id="13" name="Image 4" descr="/home/claude/dubai_deck/icons/pin.png">    </p:cNvPr>
          <p:cNvPicPr>
            <a:picLocks noChangeAspect="1"/>
          </p:cNvPicPr>
          <p:nvPr/>
        </p:nvPicPr>
        <p:blipFill>
          <a:blip r:embed="rId5"/>
          <a:stretch>
            <a:fillRect/>
          </a:stretch>
        </p:blipFill>
        <p:spPr>
          <a:xfrm>
            <a:off x="4434840" y="2331720"/>
            <a:ext cx="256032" cy="256032"/>
          </a:xfrm>
          <a:prstGeom prst="rect">
            <a:avLst/>
          </a:prstGeom>
        </p:spPr>
      </p:pic>
      <p:sp>
        <p:nvSpPr>
          <p:cNvPr id="14" name="Text 7"/>
          <p:cNvSpPr/>
          <p:nvPr/>
        </p:nvSpPr>
        <p:spPr>
          <a:xfrm>
            <a:off x="4846320" y="2286000"/>
            <a:ext cx="3063240" cy="4572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Dubai Marina</a:t>
            </a:r>
            <a:endParaRPr lang="en-US" sz="1400" dirty="0"/>
          </a:p>
        </p:txBody>
      </p:sp>
      <p:pic>
        <p:nvPicPr>
          <p:cNvPr id="15" name="Image 5" descr="/home/claude/dubai_deck/icons/pin.png">    </p:cNvPr>
          <p:cNvPicPr>
            <a:picLocks noChangeAspect="1"/>
          </p:cNvPicPr>
          <p:nvPr/>
        </p:nvPicPr>
        <p:blipFill>
          <a:blip r:embed="rId6"/>
          <a:stretch>
            <a:fillRect/>
          </a:stretch>
        </p:blipFill>
        <p:spPr>
          <a:xfrm>
            <a:off x="4434840" y="2898648"/>
            <a:ext cx="256032" cy="256032"/>
          </a:xfrm>
          <a:prstGeom prst="rect">
            <a:avLst/>
          </a:prstGeom>
        </p:spPr>
      </p:pic>
      <p:sp>
        <p:nvSpPr>
          <p:cNvPr id="16" name="Text 8"/>
          <p:cNvSpPr/>
          <p:nvPr/>
        </p:nvSpPr>
        <p:spPr>
          <a:xfrm>
            <a:off x="4846320" y="2852928"/>
            <a:ext cx="3063240" cy="4572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Palm Jumeirah</a:t>
            </a:r>
            <a:endParaRPr lang="en-US" sz="1400" dirty="0"/>
          </a:p>
        </p:txBody>
      </p:sp>
      <p:pic>
        <p:nvPicPr>
          <p:cNvPr id="17" name="Image 6" descr="/home/claude/dubai_deck/icons/pin.png">    </p:cNvPr>
          <p:cNvPicPr>
            <a:picLocks noChangeAspect="1"/>
          </p:cNvPicPr>
          <p:nvPr/>
        </p:nvPicPr>
        <p:blipFill>
          <a:blip r:embed="rId7"/>
          <a:stretch>
            <a:fillRect/>
          </a:stretch>
        </p:blipFill>
        <p:spPr>
          <a:xfrm>
            <a:off x="4434840" y="3465576"/>
            <a:ext cx="256032" cy="256032"/>
          </a:xfrm>
          <a:prstGeom prst="rect">
            <a:avLst/>
          </a:prstGeom>
        </p:spPr>
      </p:pic>
      <p:sp>
        <p:nvSpPr>
          <p:cNvPr id="18" name="Text 9"/>
          <p:cNvSpPr/>
          <p:nvPr/>
        </p:nvSpPr>
        <p:spPr>
          <a:xfrm>
            <a:off x="4846320" y="3419856"/>
            <a:ext cx="3063240" cy="4572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Dubai Hills Estate</a:t>
            </a:r>
            <a:endParaRPr lang="en-US" sz="1400" dirty="0"/>
          </a:p>
        </p:txBody>
      </p:sp>
      <p:pic>
        <p:nvPicPr>
          <p:cNvPr id="19" name="Image 7" descr="/home/claude/dubai_deck/icons/pin.png">    </p:cNvPr>
          <p:cNvPicPr>
            <a:picLocks noChangeAspect="1"/>
          </p:cNvPicPr>
          <p:nvPr/>
        </p:nvPicPr>
        <p:blipFill>
          <a:blip r:embed="rId8"/>
          <a:stretch>
            <a:fillRect/>
          </a:stretch>
        </p:blipFill>
        <p:spPr>
          <a:xfrm>
            <a:off x="4434840" y="4032504"/>
            <a:ext cx="256032" cy="256032"/>
          </a:xfrm>
          <a:prstGeom prst="rect">
            <a:avLst/>
          </a:prstGeom>
        </p:spPr>
      </p:pic>
      <p:sp>
        <p:nvSpPr>
          <p:cNvPr id="20" name="Text 10"/>
          <p:cNvSpPr/>
          <p:nvPr/>
        </p:nvSpPr>
        <p:spPr>
          <a:xfrm>
            <a:off x="4846320" y="3986784"/>
            <a:ext cx="3063240" cy="4572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Jumeirah Village Circle</a:t>
            </a:r>
            <a:endParaRPr lang="en-US" sz="1400" dirty="0"/>
          </a:p>
        </p:txBody>
      </p:sp>
      <p:sp>
        <p:nvSpPr>
          <p:cNvPr id="21" name="Shape 11"/>
          <p:cNvSpPr/>
          <p:nvPr/>
        </p:nvSpPr>
        <p:spPr>
          <a:xfrm>
            <a:off x="8229600" y="2286000"/>
            <a:ext cx="3429000" cy="3200400"/>
          </a:xfrm>
          <a:prstGeom prst="roundRect">
            <a:avLst>
              <a:gd name="adj" fmla="val 2857"/>
            </a:avLst>
          </a:prstGeom>
          <a:solidFill>
            <a:srgbClr val="142A4D"/>
          </a:solidFill>
          <a:ln w="9525">
            <a:solidFill>
              <a:srgbClr val="C9A227"/>
            </a:solidFill>
            <a:prstDash val="solid"/>
          </a:ln>
        </p:spPr>
      </p:sp>
      <p:pic>
        <p:nvPicPr>
          <p:cNvPr id="22" name="Image 8" descr="/home/claude/dubai_deck/icons/map.png">    </p:cNvPr>
          <p:cNvPicPr>
            <a:picLocks noChangeAspect="1"/>
          </p:cNvPicPr>
          <p:nvPr/>
        </p:nvPicPr>
        <p:blipFill>
          <a:blip r:embed="rId9"/>
          <a:stretch>
            <a:fillRect/>
          </a:stretch>
        </p:blipFill>
        <p:spPr>
          <a:xfrm>
            <a:off x="9669780" y="2606040"/>
            <a:ext cx="548640" cy="548640"/>
          </a:xfrm>
          <a:prstGeom prst="rect">
            <a:avLst/>
          </a:prstGeom>
        </p:spPr>
      </p:pic>
      <p:sp>
        <p:nvSpPr>
          <p:cNvPr id="23" name="Text 12"/>
          <p:cNvSpPr/>
          <p:nvPr/>
        </p:nvSpPr>
        <p:spPr>
          <a:xfrm>
            <a:off x="8412480" y="3291840"/>
            <a:ext cx="3063240" cy="548640"/>
          </a:xfrm>
          <a:prstGeom prst="rect">
            <a:avLst/>
          </a:prstGeom>
          <a:noFill/>
          <a:ln/>
        </p:spPr>
        <p:txBody>
          <a:bodyPr wrap="square" rtlCol="0" anchor="ctr"/>
          <a:lstStyle/>
          <a:p>
            <a:pPr algn="ctr" indent="0" marL="0">
              <a:buNone/>
            </a:pPr>
            <a:r>
              <a:rPr lang="en-US" sz="3000" b="1" dirty="0">
                <a:solidFill>
                  <a:srgbClr val="C9A227"/>
                </a:solidFill>
                <a:latin typeface="Cambria" pitchFamily="34" charset="0"/>
                <a:ea typeface="Cambria" pitchFamily="34" charset="-122"/>
                <a:cs typeface="Cambria" pitchFamily="34" charset="-120"/>
              </a:rPr>
              <a:t>10,453</a:t>
            </a:r>
            <a:endParaRPr lang="en-US" sz="3000" dirty="0"/>
          </a:p>
        </p:txBody>
      </p:sp>
      <p:sp>
        <p:nvSpPr>
          <p:cNvPr id="24" name="Text 13"/>
          <p:cNvSpPr/>
          <p:nvPr/>
        </p:nvSpPr>
        <p:spPr>
          <a:xfrm>
            <a:off x="8412480" y="3931920"/>
            <a:ext cx="3063240" cy="640080"/>
          </a:xfrm>
          <a:prstGeom prst="rect">
            <a:avLst/>
          </a:prstGeom>
          <a:noFill/>
          <a:ln/>
        </p:spPr>
        <p:txBody>
          <a:bodyPr wrap="square" rtlCol="0" anchor="ctr"/>
          <a:lstStyle/>
          <a:p>
            <a:pPr algn="ctr" indent="0" marL="0">
              <a:buNone/>
            </a:pPr>
            <a:r>
              <a:rPr lang="en-US" sz="1050" b="1" spc="50" kern="0" dirty="0">
                <a:solidFill>
                  <a:srgbClr val="C7CEDD"/>
                </a:solidFill>
                <a:latin typeface="Calibri" pitchFamily="34" charset="0"/>
                <a:ea typeface="Calibri" pitchFamily="34" charset="-122"/>
                <a:cs typeface="Calibri" pitchFamily="34" charset="-120"/>
              </a:rPr>
              <a:t>PROPERTIES SOLD ACROSS</a:t>
            </a:r>
            <a:endParaRPr lang="en-US" sz="1050" dirty="0"/>
          </a:p>
          <a:p>
            <a:pPr algn="ctr" indent="0" marL="0">
              <a:buNone/>
            </a:pPr>
            <a:r>
              <a:rPr lang="en-US" sz="1050" b="1" spc="50" kern="0" dirty="0">
                <a:solidFill>
                  <a:srgbClr val="C7CEDD"/>
                </a:solidFill>
                <a:latin typeface="Calibri" pitchFamily="34" charset="0"/>
                <a:ea typeface="Calibri" pitchFamily="34" charset="-122"/>
                <a:cs typeface="Calibri" pitchFamily="34" charset="-120"/>
              </a:rPr>
              <a:t>DUBAI'S RESIDENTIAL DISTRICTS</a:t>
            </a:r>
            <a:endParaRPr lang="en-US" sz="1050" dirty="0"/>
          </a:p>
        </p:txBody>
      </p:sp>
      <p:sp>
        <p:nvSpPr>
          <p:cNvPr id="25" name="Shape 14"/>
          <p:cNvSpPr/>
          <p:nvPr/>
        </p:nvSpPr>
        <p:spPr>
          <a:xfrm>
            <a:off x="8686800" y="4709160"/>
            <a:ext cx="2514600" cy="0"/>
          </a:xfrm>
          <a:prstGeom prst="line">
            <a:avLst/>
          </a:prstGeom>
          <a:noFill/>
          <a:ln w="12700">
            <a:solidFill>
              <a:srgbClr val="3A4C70"/>
            </a:solidFill>
            <a:prstDash val="solid"/>
          </a:ln>
        </p:spPr>
      </p:sp>
      <p:sp>
        <p:nvSpPr>
          <p:cNvPr id="26" name="Text 15"/>
          <p:cNvSpPr/>
          <p:nvPr/>
        </p:nvSpPr>
        <p:spPr>
          <a:xfrm>
            <a:off x="8503920" y="4892040"/>
            <a:ext cx="2880360" cy="548640"/>
          </a:xfrm>
          <a:prstGeom prst="rect">
            <a:avLst/>
          </a:prstGeom>
          <a:noFill/>
          <a:ln/>
        </p:spPr>
        <p:txBody>
          <a:bodyPr wrap="square" rtlCol="0" anchor="ctr"/>
          <a:lstStyle/>
          <a:p>
            <a:pPr algn="ctr" indent="0" marL="0">
              <a:buNone/>
            </a:pPr>
            <a:r>
              <a:rPr lang="en-US" sz="950" i="1" dirty="0">
                <a:solidFill>
                  <a:srgbClr val="9AA6BE"/>
                </a:solidFill>
                <a:latin typeface="Calibri" pitchFamily="34" charset="0"/>
                <a:ea typeface="Calibri" pitchFamily="34" charset="-122"/>
                <a:cs typeface="Calibri" pitchFamily="34" charset="-120"/>
              </a:rPr>
              <a:t>Coverage spans prime downtown addresses to fast-growing suburban master-communities.</a:t>
            </a:r>
            <a:endParaRPr lang="en-US" sz="950" dirty="0"/>
          </a:p>
        </p:txBody>
      </p:sp>
      <p:sp>
        <p:nvSpPr>
          <p:cNvPr id="27" name="Text 16"/>
          <p:cNvSpPr/>
          <p:nvPr/>
        </p:nvSpPr>
        <p:spPr>
          <a:xfrm>
            <a:off x="457200" y="6446520"/>
            <a:ext cx="7315200" cy="274320"/>
          </a:xfrm>
          <a:prstGeom prst="rect">
            <a:avLst/>
          </a:prstGeom>
          <a:noFill/>
          <a:ln/>
        </p:spPr>
        <p:txBody>
          <a:bodyPr wrap="square" rtlCol="0" anchor="ctr"/>
          <a:lstStyle/>
          <a:p>
            <a:pPr indent="0" marL="0">
              <a:buNone/>
            </a:pPr>
            <a:r>
              <a:rPr lang="en-US" sz="800" spc="100" kern="0" dirty="0">
                <a:solidFill>
                  <a:srgbClr val="8C97AC"/>
                </a:solidFill>
                <a:latin typeface="Calibri" pitchFamily="34" charset="0"/>
                <a:ea typeface="Calibri" pitchFamily="34" charset="-122"/>
                <a:cs typeface="Calibri" pitchFamily="34" charset="-120"/>
              </a:rPr>
              <a:t>DUBAI RESIDENTIAL MARKET ANALYSIS  |  2026</a:t>
            </a:r>
            <a:endParaRPr lang="en-US" sz="800" dirty="0"/>
          </a:p>
        </p:txBody>
      </p:sp>
      <p:sp>
        <p:nvSpPr>
          <p:cNvPr id="28" name="Text 17"/>
          <p:cNvSpPr/>
          <p:nvPr/>
        </p:nvSpPr>
        <p:spPr>
          <a:xfrm>
            <a:off x="11274552" y="6446520"/>
            <a:ext cx="457200" cy="274320"/>
          </a:xfrm>
          <a:prstGeom prst="rect">
            <a:avLst/>
          </a:prstGeom>
          <a:noFill/>
          <a:ln/>
        </p:spPr>
        <p:txBody>
          <a:bodyPr wrap="square" rtlCol="0" anchor="ctr"/>
          <a:lstStyle/>
          <a:p>
            <a:pPr algn="r" indent="0" marL="0">
              <a:buNone/>
            </a:pPr>
            <a:r>
              <a:rPr lang="en-US" sz="800" dirty="0">
                <a:solidFill>
                  <a:srgbClr val="8C97AC"/>
                </a:solidFill>
                <a:latin typeface="Calibri" pitchFamily="34" charset="0"/>
                <a:ea typeface="Calibri" pitchFamily="34" charset="-122"/>
                <a:cs typeface="Calibri"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5486400" cy="32004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STRATEGIC TAKEAWAYS</a:t>
            </a:r>
            <a:endParaRPr lang="en-US" sz="1200" dirty="0"/>
          </a:p>
        </p:txBody>
      </p:sp>
      <p:sp>
        <p:nvSpPr>
          <p:cNvPr id="3" name="Text 1"/>
          <p:cNvSpPr/>
          <p:nvPr/>
        </p:nvSpPr>
        <p:spPr>
          <a:xfrm>
            <a:off x="548640" y="822960"/>
            <a:ext cx="9601200" cy="640080"/>
          </a:xfrm>
          <a:prstGeom prst="rect">
            <a:avLst/>
          </a:prstGeom>
          <a:noFill/>
          <a:ln/>
        </p:spPr>
        <p:txBody>
          <a:bodyPr wrap="square"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Key Insights &amp; Recommendations</a:t>
            </a:r>
            <a:endParaRPr lang="en-US" sz="3000" dirty="0"/>
          </a:p>
        </p:txBody>
      </p:sp>
      <p:sp>
        <p:nvSpPr>
          <p:cNvPr id="4" name="Shape 2"/>
          <p:cNvSpPr/>
          <p:nvPr/>
        </p:nvSpPr>
        <p:spPr>
          <a:xfrm>
            <a:off x="548640" y="1691640"/>
            <a:ext cx="5394960" cy="2148840"/>
          </a:xfrm>
          <a:prstGeom prst="roundRect">
            <a:avLst>
              <a:gd name="adj" fmla="val 3404"/>
            </a:avLst>
          </a:prstGeom>
          <a:solidFill>
            <a:srgbClr val="F5F6F8"/>
          </a:solidFill>
          <a:ln/>
        </p:spPr>
      </p:sp>
      <p:sp>
        <p:nvSpPr>
          <p:cNvPr id="5" name="Shape 3"/>
          <p:cNvSpPr/>
          <p:nvPr/>
        </p:nvSpPr>
        <p:spPr>
          <a:xfrm>
            <a:off x="822960" y="1965960"/>
            <a:ext cx="594360" cy="594360"/>
          </a:xfrm>
          <a:prstGeom prst="oval">
            <a:avLst/>
          </a:prstGeom>
          <a:solidFill>
            <a:srgbClr val="0B1F3A"/>
          </a:solidFill>
          <a:ln/>
        </p:spPr>
      </p:sp>
      <p:pic>
        <p:nvPicPr>
          <p:cNvPr id="6" name="Image 0" descr="/home/claude/dubai_deck/icons/home.png">    </p:cNvPr>
          <p:cNvPicPr>
            <a:picLocks noChangeAspect="1"/>
          </p:cNvPicPr>
          <p:nvPr/>
        </p:nvPicPr>
        <p:blipFill>
          <a:blip r:embed="rId1"/>
          <a:stretch>
            <a:fillRect/>
          </a:stretch>
        </p:blipFill>
        <p:spPr>
          <a:xfrm>
            <a:off x="973836" y="2116836"/>
            <a:ext cx="292608" cy="292608"/>
          </a:xfrm>
          <a:prstGeom prst="rect">
            <a:avLst/>
          </a:prstGeom>
        </p:spPr>
      </p:pic>
      <p:sp>
        <p:nvSpPr>
          <p:cNvPr id="7" name="Text 4"/>
          <p:cNvSpPr/>
          <p:nvPr/>
        </p:nvSpPr>
        <p:spPr>
          <a:xfrm>
            <a:off x="1600200" y="1920240"/>
            <a:ext cx="4114800" cy="594360"/>
          </a:xfrm>
          <a:prstGeom prst="rect">
            <a:avLst/>
          </a:prstGeom>
          <a:noFill/>
          <a:ln/>
        </p:spPr>
        <p:txBody>
          <a:bodyPr wrap="square"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Apartments remain the core product</a:t>
            </a:r>
            <a:endParaRPr lang="en-US" sz="1500" dirty="0"/>
          </a:p>
        </p:txBody>
      </p:sp>
      <p:sp>
        <p:nvSpPr>
          <p:cNvPr id="8" name="Text 5"/>
          <p:cNvSpPr/>
          <p:nvPr/>
        </p:nvSpPr>
        <p:spPr>
          <a:xfrm>
            <a:off x="822960" y="2697480"/>
            <a:ext cx="4846320" cy="1005840"/>
          </a:xfrm>
          <a:prstGeom prst="rect">
            <a:avLst/>
          </a:prstGeom>
          <a:noFill/>
          <a:ln/>
        </p:spPr>
        <p:txBody>
          <a:bodyPr wrap="square" rtlCol="0" anchor="ctr"/>
          <a:lstStyle/>
          <a:p>
            <a:pPr indent="0" marL="0">
              <a:lnSpc>
                <a:spcPct val="125000"/>
              </a:lnSpc>
              <a:buNone/>
            </a:pPr>
            <a:r>
              <a:rPr lang="en-US" sz="1150" dirty="0">
                <a:solidFill>
                  <a:srgbClr val="6B7280"/>
                </a:solidFill>
                <a:latin typeface="Calibri" pitchFamily="34" charset="0"/>
                <a:ea typeface="Calibri" pitchFamily="34" charset="-122"/>
                <a:cs typeface="Calibri" pitchFamily="34" charset="-120"/>
              </a:rPr>
              <a:t>Flats drive nearly all sales value — inventory and marketing strategy should stay concentrated here.</a:t>
            </a:r>
            <a:endParaRPr lang="en-US" sz="1150" dirty="0"/>
          </a:p>
        </p:txBody>
      </p:sp>
      <p:sp>
        <p:nvSpPr>
          <p:cNvPr id="9" name="Shape 6"/>
          <p:cNvSpPr/>
          <p:nvPr/>
        </p:nvSpPr>
        <p:spPr>
          <a:xfrm>
            <a:off x="6263640" y="1691640"/>
            <a:ext cx="5394960" cy="2148840"/>
          </a:xfrm>
          <a:prstGeom prst="roundRect">
            <a:avLst>
              <a:gd name="adj" fmla="val 3404"/>
            </a:avLst>
          </a:prstGeom>
          <a:solidFill>
            <a:srgbClr val="F5F6F8"/>
          </a:solidFill>
          <a:ln/>
        </p:spPr>
      </p:sp>
      <p:sp>
        <p:nvSpPr>
          <p:cNvPr id="10" name="Shape 7"/>
          <p:cNvSpPr/>
          <p:nvPr/>
        </p:nvSpPr>
        <p:spPr>
          <a:xfrm>
            <a:off x="6537960" y="1965960"/>
            <a:ext cx="594360" cy="594360"/>
          </a:xfrm>
          <a:prstGeom prst="oval">
            <a:avLst/>
          </a:prstGeom>
          <a:solidFill>
            <a:srgbClr val="0B1F3A"/>
          </a:solidFill>
          <a:ln/>
        </p:spPr>
      </p:sp>
      <p:pic>
        <p:nvPicPr>
          <p:cNvPr id="11" name="Image 1" descr="/home/claude/dubai_deck/icons/bed.png">    </p:cNvPr>
          <p:cNvPicPr>
            <a:picLocks noChangeAspect="1"/>
          </p:cNvPicPr>
          <p:nvPr/>
        </p:nvPicPr>
        <p:blipFill>
          <a:blip r:embed="rId2"/>
          <a:stretch>
            <a:fillRect/>
          </a:stretch>
        </p:blipFill>
        <p:spPr>
          <a:xfrm>
            <a:off x="6688836" y="2116836"/>
            <a:ext cx="292608" cy="292608"/>
          </a:xfrm>
          <a:prstGeom prst="rect">
            <a:avLst/>
          </a:prstGeom>
        </p:spPr>
      </p:pic>
      <p:sp>
        <p:nvSpPr>
          <p:cNvPr id="12" name="Text 8"/>
          <p:cNvSpPr/>
          <p:nvPr/>
        </p:nvSpPr>
        <p:spPr>
          <a:xfrm>
            <a:off x="7315200" y="1920240"/>
            <a:ext cx="4114800" cy="594360"/>
          </a:xfrm>
          <a:prstGeom prst="rect">
            <a:avLst/>
          </a:prstGeom>
          <a:noFill/>
          <a:ln/>
        </p:spPr>
        <p:txBody>
          <a:bodyPr wrap="square"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1 &amp; 2-bedroom units lead demand</a:t>
            </a:r>
            <a:endParaRPr lang="en-US" sz="1500" dirty="0"/>
          </a:p>
        </p:txBody>
      </p:sp>
      <p:sp>
        <p:nvSpPr>
          <p:cNvPr id="13" name="Text 9"/>
          <p:cNvSpPr/>
          <p:nvPr/>
        </p:nvSpPr>
        <p:spPr>
          <a:xfrm>
            <a:off x="6537960" y="2697480"/>
            <a:ext cx="4846320" cy="1005840"/>
          </a:xfrm>
          <a:prstGeom prst="rect">
            <a:avLst/>
          </a:prstGeom>
          <a:noFill/>
          <a:ln/>
        </p:spPr>
        <p:txBody>
          <a:bodyPr wrap="square" rtlCol="0" anchor="ctr"/>
          <a:lstStyle/>
          <a:p>
            <a:pPr indent="0" marL="0">
              <a:lnSpc>
                <a:spcPct val="125000"/>
              </a:lnSpc>
              <a:buNone/>
            </a:pPr>
            <a:r>
              <a:rPr lang="en-US" sz="1150" dirty="0">
                <a:solidFill>
                  <a:srgbClr val="6B7280"/>
                </a:solidFill>
                <a:latin typeface="Calibri" pitchFamily="34" charset="0"/>
                <a:ea typeface="Calibri" pitchFamily="34" charset="-122"/>
                <a:cs typeface="Calibri" pitchFamily="34" charset="-120"/>
              </a:rPr>
              <a:t>These configurations should anchor new launches and remain the pricing benchmark for the market.</a:t>
            </a:r>
            <a:endParaRPr lang="en-US" sz="1150" dirty="0"/>
          </a:p>
        </p:txBody>
      </p:sp>
      <p:sp>
        <p:nvSpPr>
          <p:cNvPr id="14" name="Shape 10"/>
          <p:cNvSpPr/>
          <p:nvPr/>
        </p:nvSpPr>
        <p:spPr>
          <a:xfrm>
            <a:off x="548640" y="4069080"/>
            <a:ext cx="5394960" cy="2148840"/>
          </a:xfrm>
          <a:prstGeom prst="roundRect">
            <a:avLst>
              <a:gd name="adj" fmla="val 3404"/>
            </a:avLst>
          </a:prstGeom>
          <a:solidFill>
            <a:srgbClr val="F5F6F8"/>
          </a:solidFill>
          <a:ln/>
        </p:spPr>
      </p:sp>
      <p:sp>
        <p:nvSpPr>
          <p:cNvPr id="15" name="Shape 11"/>
          <p:cNvSpPr/>
          <p:nvPr/>
        </p:nvSpPr>
        <p:spPr>
          <a:xfrm>
            <a:off x="822960" y="4343400"/>
            <a:ext cx="594360" cy="594360"/>
          </a:xfrm>
          <a:prstGeom prst="oval">
            <a:avLst/>
          </a:prstGeom>
          <a:solidFill>
            <a:srgbClr val="0B1F3A"/>
          </a:solidFill>
          <a:ln/>
        </p:spPr>
      </p:sp>
      <p:pic>
        <p:nvPicPr>
          <p:cNvPr id="16" name="Image 2" descr="/home/claude/dubai_deck/icons/coins.png">    </p:cNvPr>
          <p:cNvPicPr>
            <a:picLocks noChangeAspect="1"/>
          </p:cNvPicPr>
          <p:nvPr/>
        </p:nvPicPr>
        <p:blipFill>
          <a:blip r:embed="rId3"/>
          <a:stretch>
            <a:fillRect/>
          </a:stretch>
        </p:blipFill>
        <p:spPr>
          <a:xfrm>
            <a:off x="973836" y="4494276"/>
            <a:ext cx="292608" cy="292608"/>
          </a:xfrm>
          <a:prstGeom prst="rect">
            <a:avLst/>
          </a:prstGeom>
        </p:spPr>
      </p:pic>
      <p:sp>
        <p:nvSpPr>
          <p:cNvPr id="17" name="Text 12"/>
          <p:cNvSpPr/>
          <p:nvPr/>
        </p:nvSpPr>
        <p:spPr>
          <a:xfrm>
            <a:off x="1600200" y="4297680"/>
            <a:ext cx="4114800" cy="594360"/>
          </a:xfrm>
          <a:prstGeom prst="rect">
            <a:avLst/>
          </a:prstGeom>
          <a:noFill/>
          <a:ln/>
        </p:spPr>
        <p:txBody>
          <a:bodyPr wrap="square"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Mid-market is the volume engine</a:t>
            </a:r>
            <a:endParaRPr lang="en-US" sz="1500" dirty="0"/>
          </a:p>
        </p:txBody>
      </p:sp>
      <p:sp>
        <p:nvSpPr>
          <p:cNvPr id="18" name="Text 13"/>
          <p:cNvSpPr/>
          <p:nvPr/>
        </p:nvSpPr>
        <p:spPr>
          <a:xfrm>
            <a:off x="822960" y="5074920"/>
            <a:ext cx="4846320" cy="1005840"/>
          </a:xfrm>
          <a:prstGeom prst="rect">
            <a:avLst/>
          </a:prstGeom>
          <a:noFill/>
          <a:ln/>
        </p:spPr>
        <p:txBody>
          <a:bodyPr wrap="square" rtlCol="0" anchor="ctr"/>
          <a:lstStyle/>
          <a:p>
            <a:pPr indent="0" marL="0">
              <a:lnSpc>
                <a:spcPct val="125000"/>
              </a:lnSpc>
              <a:buNone/>
            </a:pPr>
            <a:r>
              <a:rPr lang="en-US" sz="1150" dirty="0">
                <a:solidFill>
                  <a:srgbClr val="6B7280"/>
                </a:solidFill>
                <a:latin typeface="Calibri" pitchFamily="34" charset="0"/>
                <a:ea typeface="Calibri" pitchFamily="34" charset="-122"/>
                <a:cs typeface="Calibri" pitchFamily="34" charset="-120"/>
              </a:rPr>
              <a:t>Mid-Market and High-End bands together drive ~78% of sales value — the clearest growth segment.</a:t>
            </a:r>
            <a:endParaRPr lang="en-US" sz="1150" dirty="0"/>
          </a:p>
        </p:txBody>
      </p:sp>
      <p:sp>
        <p:nvSpPr>
          <p:cNvPr id="19" name="Shape 14"/>
          <p:cNvSpPr/>
          <p:nvPr/>
        </p:nvSpPr>
        <p:spPr>
          <a:xfrm>
            <a:off x="6263640" y="4069080"/>
            <a:ext cx="5394960" cy="2148840"/>
          </a:xfrm>
          <a:prstGeom prst="roundRect">
            <a:avLst>
              <a:gd name="adj" fmla="val 3404"/>
            </a:avLst>
          </a:prstGeom>
          <a:solidFill>
            <a:srgbClr val="F5F6F8"/>
          </a:solidFill>
          <a:ln/>
        </p:spPr>
      </p:sp>
      <p:sp>
        <p:nvSpPr>
          <p:cNvPr id="20" name="Shape 15"/>
          <p:cNvSpPr/>
          <p:nvPr/>
        </p:nvSpPr>
        <p:spPr>
          <a:xfrm>
            <a:off x="6537960" y="4343400"/>
            <a:ext cx="594360" cy="594360"/>
          </a:xfrm>
          <a:prstGeom prst="oval">
            <a:avLst/>
          </a:prstGeom>
          <a:solidFill>
            <a:srgbClr val="0B1F3A"/>
          </a:solidFill>
          <a:ln/>
        </p:spPr>
      </p:sp>
      <p:pic>
        <p:nvPicPr>
          <p:cNvPr id="21" name="Image 3" descr="/home/claude/dubai_deck/icons/trenddown.png">    </p:cNvPr>
          <p:cNvPicPr>
            <a:picLocks noChangeAspect="1"/>
          </p:cNvPicPr>
          <p:nvPr/>
        </p:nvPicPr>
        <p:blipFill>
          <a:blip r:embed="rId4"/>
          <a:stretch>
            <a:fillRect/>
          </a:stretch>
        </p:blipFill>
        <p:spPr>
          <a:xfrm>
            <a:off x="6688836" y="4494276"/>
            <a:ext cx="292608" cy="292608"/>
          </a:xfrm>
          <a:prstGeom prst="rect">
            <a:avLst/>
          </a:prstGeom>
        </p:spPr>
      </p:pic>
      <p:sp>
        <p:nvSpPr>
          <p:cNvPr id="22" name="Text 16"/>
          <p:cNvSpPr/>
          <p:nvPr/>
        </p:nvSpPr>
        <p:spPr>
          <a:xfrm>
            <a:off x="7315200" y="4297680"/>
            <a:ext cx="4114800" cy="594360"/>
          </a:xfrm>
          <a:prstGeom prst="rect">
            <a:avLst/>
          </a:prstGeom>
          <a:noFill/>
          <a:ln/>
        </p:spPr>
        <p:txBody>
          <a:bodyPr wrap="square"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Monitor the Q2–Q3 slowdown</a:t>
            </a:r>
            <a:endParaRPr lang="en-US" sz="1500" dirty="0"/>
          </a:p>
        </p:txBody>
      </p:sp>
      <p:sp>
        <p:nvSpPr>
          <p:cNvPr id="23" name="Text 17"/>
          <p:cNvSpPr/>
          <p:nvPr/>
        </p:nvSpPr>
        <p:spPr>
          <a:xfrm>
            <a:off x="6537960" y="5074920"/>
            <a:ext cx="4846320" cy="1005840"/>
          </a:xfrm>
          <a:prstGeom prst="rect">
            <a:avLst/>
          </a:prstGeom>
          <a:noFill/>
          <a:ln/>
        </p:spPr>
        <p:txBody>
          <a:bodyPr wrap="square" rtlCol="0" anchor="ctr"/>
          <a:lstStyle/>
          <a:p>
            <a:pPr indent="0" marL="0">
              <a:lnSpc>
                <a:spcPct val="125000"/>
              </a:lnSpc>
              <a:buNone/>
            </a:pPr>
            <a:r>
              <a:rPr lang="en-US" sz="1150" dirty="0">
                <a:solidFill>
                  <a:srgbClr val="6B7280"/>
                </a:solidFill>
                <a:latin typeface="Calibri" pitchFamily="34" charset="0"/>
                <a:ea typeface="Calibri" pitchFamily="34" charset="-122"/>
                <a:cs typeface="Calibri" pitchFamily="34" charset="-120"/>
              </a:rPr>
              <a:t>Sales eased steadily from a ~5bn peak to 1.7bn by July; early H2 tracking is recommended.</a:t>
            </a:r>
            <a:endParaRPr lang="en-US" sz="1150" dirty="0"/>
          </a:p>
        </p:txBody>
      </p:sp>
      <p:sp>
        <p:nvSpPr>
          <p:cNvPr id="24" name="Text 18"/>
          <p:cNvSpPr/>
          <p:nvPr/>
        </p:nvSpPr>
        <p:spPr>
          <a:xfrm>
            <a:off x="457200" y="6446520"/>
            <a:ext cx="7315200" cy="274320"/>
          </a:xfrm>
          <a:prstGeom prst="rect">
            <a:avLst/>
          </a:prstGeom>
          <a:noFill/>
          <a:ln/>
        </p:spPr>
        <p:txBody>
          <a:bodyPr wrap="square" rtlCol="0" anchor="ctr"/>
          <a:lstStyle/>
          <a:p>
            <a:pPr indent="0" marL="0">
              <a:buNone/>
            </a:pPr>
            <a:r>
              <a:rPr lang="en-US" sz="800" spc="100" kern="0" dirty="0">
                <a:solidFill>
                  <a:srgbClr val="6B7280"/>
                </a:solidFill>
                <a:latin typeface="Calibri" pitchFamily="34" charset="0"/>
                <a:ea typeface="Calibri" pitchFamily="34" charset="-122"/>
                <a:cs typeface="Calibri" pitchFamily="34" charset="-120"/>
              </a:rPr>
              <a:t>DUBAI RESIDENTIAL MARKET ANALYSIS  |  2026</a:t>
            </a:r>
            <a:endParaRPr lang="en-US" sz="800" dirty="0"/>
          </a:p>
        </p:txBody>
      </p:sp>
      <p:sp>
        <p:nvSpPr>
          <p:cNvPr id="25" name="Text 19"/>
          <p:cNvSpPr/>
          <p:nvPr/>
        </p:nvSpPr>
        <p:spPr>
          <a:xfrm>
            <a:off x="11274552" y="6446520"/>
            <a:ext cx="457200" cy="274320"/>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2880360"/>
            <a:ext cx="1463040" cy="0"/>
          </a:xfrm>
          <a:prstGeom prst="line">
            <a:avLst/>
          </a:prstGeom>
          <a:noFill/>
          <a:ln w="25400">
            <a:solidFill>
              <a:srgbClr val="C9A227"/>
            </a:solidFill>
            <a:prstDash val="solid"/>
          </a:ln>
        </p:spPr>
      </p:sp>
      <p:sp>
        <p:nvSpPr>
          <p:cNvPr id="3" name="Text 1"/>
          <p:cNvSpPr/>
          <p:nvPr/>
        </p:nvSpPr>
        <p:spPr>
          <a:xfrm>
            <a:off x="640080" y="3017520"/>
            <a:ext cx="7315200" cy="82296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4" name="Text 2"/>
          <p:cNvSpPr/>
          <p:nvPr/>
        </p:nvSpPr>
        <p:spPr>
          <a:xfrm>
            <a:off x="640080" y="3794760"/>
            <a:ext cx="7315200" cy="457200"/>
          </a:xfrm>
          <a:prstGeom prst="rect">
            <a:avLst/>
          </a:prstGeom>
          <a:noFill/>
          <a:ln/>
        </p:spPr>
        <p:txBody>
          <a:bodyPr wrap="square" rtlCol="0" anchor="ctr"/>
          <a:lstStyle/>
          <a:p>
            <a:pPr indent="0" marL="0">
              <a:buNone/>
            </a:pPr>
            <a:r>
              <a:rPr lang="en-US" sz="1400" i="1" dirty="0">
                <a:solidFill>
                  <a:srgbClr val="C7CEDD"/>
                </a:solidFill>
                <a:latin typeface="Calibri" pitchFamily="34" charset="0"/>
                <a:ea typeface="Calibri" pitchFamily="34" charset="-122"/>
                <a:cs typeface="Calibri" pitchFamily="34" charset="-120"/>
              </a:rPr>
              <a:t>Dubai Residential Market Analysis — 2026 Report</a:t>
            </a:r>
            <a:endParaRPr lang="en-US" sz="1400" dirty="0"/>
          </a:p>
        </p:txBody>
      </p:sp>
      <p:sp>
        <p:nvSpPr>
          <p:cNvPr id="5" name="Text 3"/>
          <p:cNvSpPr/>
          <p:nvPr/>
        </p:nvSpPr>
        <p:spPr>
          <a:xfrm>
            <a:off x="640080" y="6263640"/>
            <a:ext cx="8229600" cy="274320"/>
          </a:xfrm>
          <a:prstGeom prst="rect">
            <a:avLst/>
          </a:prstGeom>
          <a:noFill/>
          <a:ln/>
        </p:spPr>
        <p:txBody>
          <a:bodyPr wrap="square" rtlCol="0" anchor="ctr"/>
          <a:lstStyle/>
          <a:p>
            <a:pPr indent="0" marL="0">
              <a:buNone/>
            </a:pPr>
            <a:r>
              <a:rPr lang="en-US" sz="900" spc="100" kern="0" dirty="0">
                <a:solidFill>
                  <a:srgbClr val="8C97AC"/>
                </a:solidFill>
                <a:latin typeface="Calibri" pitchFamily="34" charset="0"/>
                <a:ea typeface="Calibri" pitchFamily="34" charset="-122"/>
                <a:cs typeface="Calibri" pitchFamily="34" charset="-120"/>
              </a:rPr>
              <a:t>Source: Power BI Residential Analysis Dashboard  •  Prepared for internal market review</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2026-07-14T20:40:16Z</dcterms:created>
  <dcterms:modified xsi:type="dcterms:W3CDTF">2026-07-14T20:40:16Z</dcterms:modified>
</cp:coreProperties>
</file>